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228f6ab8b74462" /><Relationship Type="http://schemas.openxmlformats.org/officeDocument/2006/relationships/extended-properties" Target="/docProps/app.xml" Id="R5dbce96f48ed40a7" /><Relationship Type="http://schemas.openxmlformats.org/officeDocument/2006/relationships/officeDocument" Target="/ppt/presentation.xml" Id="Re3b73a9345d444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01febc025e4b53"/>
  </p:sldMasterIdLst>
  <p:notesMasterIdLst>
    <p:notesMasterId xmlns:r="http://schemas.openxmlformats.org/officeDocument/2006/relationships" r:id="R163b32d97c3e4139"/>
  </p:notesMasterIdLst>
  <p:sldIdLst>
    <p:sldId xmlns:r="http://schemas.openxmlformats.org/officeDocument/2006/relationships" id="256" r:id="R94a720ad885c4d5d"/>
    <p:sldId xmlns:r="http://schemas.openxmlformats.org/officeDocument/2006/relationships" id="257" r:id="R972b9c3880d2465d"/>
    <p:sldId xmlns:r="http://schemas.openxmlformats.org/officeDocument/2006/relationships" id="258" r:id="R53812b6656054fae"/>
    <p:sldId xmlns:r="http://schemas.openxmlformats.org/officeDocument/2006/relationships" id="259" r:id="Rd004bc45c9ad4823"/>
    <p:sldId xmlns:r="http://schemas.openxmlformats.org/officeDocument/2006/relationships" id="260" r:id="R872c3270054b4a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8c2dd63fbf4b44" /><Relationship Type="http://schemas.openxmlformats.org/officeDocument/2006/relationships/slideMaster" Target="/ppt/slideMasters/slideMaster1.xml" Id="R6901febc025e4b53" /><Relationship Type="http://schemas.openxmlformats.org/officeDocument/2006/relationships/notesMaster" Target="/ppt/notesMasters/notesMaster1.xml" Id="R163b32d97c3e4139" /><Relationship Type="http://schemas.openxmlformats.org/officeDocument/2006/relationships/presProps" Target="/ppt/presProps.xml" Id="R60247fe914c748ae" /><Relationship Type="http://schemas.openxmlformats.org/officeDocument/2006/relationships/tableStyles" Target="/ppt/tableStyles.xml" Id="R438f1bcc67104dba" /><Relationship Type="http://schemas.openxmlformats.org/officeDocument/2006/relationships/slide" Target="/ppt/slides/slide1.xml" Id="R94a720ad885c4d5d" /><Relationship Type="http://schemas.openxmlformats.org/officeDocument/2006/relationships/slide" Target="/ppt/slides/slide2.xml" Id="R972b9c3880d2465d" /><Relationship Type="http://schemas.openxmlformats.org/officeDocument/2006/relationships/slide" Target="/ppt/slides/slide3.xml" Id="R53812b6656054fae" /><Relationship Type="http://schemas.openxmlformats.org/officeDocument/2006/relationships/slide" Target="/ppt/slides/slide4.xml" Id="Rd004bc45c9ad4823" /><Relationship Type="http://schemas.openxmlformats.org/officeDocument/2006/relationships/slide" Target="/ppt/slides/slide5.xml" Id="R872c3270054b4a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56bf7fbe5545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be547a186b4d5d" /><Relationship Type="http://schemas.openxmlformats.org/officeDocument/2006/relationships/notesMaster" Target="/ppt/notesMasters/notesMaster1.xml" Id="Rd8f4060e5baa46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6c68e29c3b4096" /><Relationship Type="http://schemas.openxmlformats.org/officeDocument/2006/relationships/notesMaster" Target="/ppt/notesMasters/notesMaster1.xml" Id="Raeb3b1eed3ec42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9ca2d71950415d" /><Relationship Type="http://schemas.openxmlformats.org/officeDocument/2006/relationships/notesMaster" Target="/ppt/notesMasters/notesMaster1.xml" Id="Ra45b4f2b5fed47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4e924de9fb4ae0" /><Relationship Type="http://schemas.openxmlformats.org/officeDocument/2006/relationships/notesMaster" Target="/ppt/notesMasters/notesMaster1.xml" Id="R7f22e76e75a14a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6344498c6e43e9" /><Relationship Type="http://schemas.openxmlformats.org/officeDocument/2006/relationships/notesMaster" Target="/ppt/notesMasters/notesMaster1.xml" Id="R94de0a464e684a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0:00-0:45. Open with the problem: career planning usually starts with unstructured resumes, transcripts, notes, and vague goals.</a:t>
            </a:r>
          </a:p>
          <a:p xmlns:a="http://schemas.openxmlformats.org/drawingml/2006/main">
            <a:r>
              <a:t>Position PathForge as a practical translator from background evidence to next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0:45-1:35. The key idea is not replacing judgment. It makes the reasoning visible and editable.</a:t>
            </a:r>
          </a:p>
          <a:p xmlns:a="http://schemas.openxmlformats.org/drawingml/2006/main">
            <a:r>
              <a:t>Emphasize that low-information inputs still produce a starting plan, but better background evidence creates a better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1:35-2:45. Live demo script: paste 'Harvard student interested in operations analyst roles' or upload a resume, then show the profile, goal controls, and results.</a:t>
            </a:r>
          </a:p>
          <a:p xmlns:a="http://schemas.openxmlformats.org/drawingml/2006/main">
            <a:r>
              <a:t>Call out that results are inspectable: strengths, gaps, evidence, projects, warnings, and trace.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2:45-4:05. Explain the separation of concerns: document intake, provider-backed extraction, deterministic tools, provider-backed reasoning, and verification trace.</a:t>
            </a:r>
          </a:p>
          <a:p xmlns:a="http://schemas.openxmlformats.org/drawingml/2006/main">
            <a:r>
              <a:t>Mention Google API first: hosted mode tries Gemini first, can fall back to OpenAI if configured, and then to the offline demo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4:05-5:00. Close by returning to purpose: the site is valuable because it turns scattered background evidence into a plan someone can critique and act on.</a:t>
            </a:r>
          </a:p>
          <a:p xmlns:a="http://schemas.openxmlformats.org/drawingml/2006/main">
            <a:r>
              <a:t>Optional final sentence: The plan gets better as the user gives better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b63f38b6c40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e60047cd964915" /><Relationship Type="http://schemas.openxmlformats.org/officeDocument/2006/relationships/slideLayout" Target="/ppt/slideLayouts/slideLayout1.xml" Id="R67ec6059798543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c6059798543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078b3cead4d54" /><Relationship Type="http://schemas.openxmlformats.org/officeDocument/2006/relationships/notesSlide" Target="/ppt/notesSlides/notesSlide1.xml" Id="Re0d01d754f274b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27068897d4df4" /><Relationship Type="http://schemas.openxmlformats.org/officeDocument/2006/relationships/notesSlide" Target="/ppt/notesSlides/notesSlide2.xml" Id="R51f1458e21a040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31074f1c74442" /><Relationship Type="http://schemas.openxmlformats.org/officeDocument/2006/relationships/notesSlide" Target="/ppt/notesSlides/notesSlide3.xml" Id="R5980f62f91d246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faaf37a964da2" /><Relationship Type="http://schemas.openxmlformats.org/officeDocument/2006/relationships/notesSlide" Target="/ppt/notesSlides/notesSlide4.xml" Id="Re2aad9a8cd6e43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4f56379bc4699" /><Relationship Type="http://schemas.openxmlformats.org/officeDocument/2006/relationships/notesSlide" Target="/ppt/notesSlides/notesSlide5.xml" Id="Rfcfa871444cb4a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C2FA890-A51B-4F27-93F9-F40DC386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PathForge AI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D9C6E9-15FA-4A4C-B6A4-FE113429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A career-navigation website that turns messy background notes into a practical career plan.</a:t>
            </a:r>
          </a:p>
        </p:txBody>
      </p:sp>
      <p:sp>
        <p:nvSpPr>
          <p:cNvPr id="3" name="thin-rule">
            <a:extLst xmlns:a="http://schemas.openxmlformats.org/drawingml/2006/main">
              <a:ext uri="{FF2B5EF4-FFF2-40B4-BE49-F238E27FC236}">
                <a16:creationId xmlns:a16="http://schemas.microsoft.com/office/drawing/2014/main" id="{E1532E31-991C-498A-8041-87F85E8B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33800"/>
            <a:ext cx="3905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rame">
            <a:extLst xmlns:a="http://schemas.openxmlformats.org/drawingml/2006/main">
              <a:ext uri="{FF2B5EF4-FFF2-40B4-BE49-F238E27FC236}">
                <a16:creationId xmlns:a16="http://schemas.microsoft.com/office/drawing/2014/main" id="{CA2D9ADF-81FD-4589-BC28-0CEB7565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386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5D66"/>
                </a:solidFill>
              </a:defRPr>
            </a:pPr>
            <a:r>
              <a:rPr sz="1800" b="0">
                <a:solidFill>
                  <a:srgbClr val="565D66"/>
                </a:solidFill>
              </a:rPr>
              <a:t>Purpose -&gt; Demo -&gt; How it works</a:t>
            </a:r>
          </a:p>
        </p:txBody>
      </p:sp>
      <p:sp>
        <p:nvSpPr>
          <p:cNvPr id="5" name="hero-back">
            <a:extLst xmlns:a="http://schemas.openxmlformats.org/drawingml/2006/main">
              <a:ext uri="{FF2B5EF4-FFF2-40B4-BE49-F238E27FC236}">
                <a16:creationId xmlns:a16="http://schemas.microsoft.com/office/drawing/2014/main" id="{609D5221-C7FB-4B8B-B145-41A9494D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hero-word-1">
            <a:extLst xmlns:a="http://schemas.openxmlformats.org/drawingml/2006/main">
              <a:ext uri="{FF2B5EF4-FFF2-40B4-BE49-F238E27FC236}">
                <a16:creationId xmlns:a16="http://schemas.microsoft.com/office/drawing/2014/main" id="{F84282E6-C812-4A88-ABEC-478197AF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0953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upload</a:t>
            </a:r>
          </a:p>
        </p:txBody>
      </p:sp>
      <p:sp>
        <p:nvSpPr>
          <p:cNvPr id="7" name="hero-word-2">
            <a:extLst xmlns:a="http://schemas.openxmlformats.org/drawingml/2006/main">
              <a:ext uri="{FF2B5EF4-FFF2-40B4-BE49-F238E27FC236}">
                <a16:creationId xmlns:a16="http://schemas.microsoft.com/office/drawing/2014/main" id="{F4CEA336-57F4-4665-B205-69BD5704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33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847A"/>
                </a:solidFill>
              </a:defRPr>
            </a:pPr>
            <a:r>
              <a:rPr sz="3150" b="1">
                <a:solidFill>
                  <a:srgbClr val="10847A"/>
                </a:solidFill>
              </a:rPr>
              <a:t>extract</a:t>
            </a:r>
          </a:p>
        </p:txBody>
      </p:sp>
      <p:sp>
        <p:nvSpPr>
          <p:cNvPr id="8" name="hero-word-3">
            <a:extLst xmlns:a="http://schemas.openxmlformats.org/drawingml/2006/main">
              <a:ext uri="{FF2B5EF4-FFF2-40B4-BE49-F238E27FC236}">
                <a16:creationId xmlns:a16="http://schemas.microsoft.com/office/drawing/2014/main" id="{F43775B2-D415-4781-AE54-AD5B84C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718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plan</a:t>
            </a:r>
          </a:p>
        </p:txBody>
      </p:sp>
      <p:sp>
        <p:nvSpPr>
          <p:cNvPr id="9" name="thin-rule">
            <a:extLst xmlns:a="http://schemas.openxmlformats.org/drawingml/2006/main">
              <a:ext uri="{FF2B5EF4-FFF2-40B4-BE49-F238E27FC236}">
                <a16:creationId xmlns:a16="http://schemas.microsoft.com/office/drawing/2014/main" id="{CCB0C6B4-B005-4518-88AC-EA06873B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52625"/>
            <a:ext cx="3638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thin-rule">
            <a:extLst xmlns:a="http://schemas.openxmlformats.org/drawingml/2006/main">
              <a:ext uri="{FF2B5EF4-FFF2-40B4-BE49-F238E27FC236}">
                <a16:creationId xmlns:a16="http://schemas.microsoft.com/office/drawing/2014/main" id="{1C56FB87-E6A1-4FB3-9227-7B8C6632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90875"/>
            <a:ext cx="3638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footer-1">
            <a:extLst xmlns:a="http://schemas.openxmlformats.org/drawingml/2006/main">
              <a:ext uri="{FF2B5EF4-FFF2-40B4-BE49-F238E27FC236}">
                <a16:creationId xmlns:a16="http://schemas.microsoft.com/office/drawing/2014/main" id="{BFE31724-58B5-43B9-9366-84BBC1F6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5929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3DE1462-E04A-430E-8E0B-073D7C7D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purpose is to make career planning evidence-grounded.</a:t>
            </a:r>
          </a:p>
        </p:txBody>
      </p:sp>
      <p:sp>
        <p:nvSpPr>
          <p:cNvPr id="2" name="left-band">
            <a:extLst xmlns:a="http://schemas.openxmlformats.org/drawingml/2006/main">
              <a:ext uri="{FF2B5EF4-FFF2-40B4-BE49-F238E27FC236}">
                <a16:creationId xmlns:a16="http://schemas.microsoft.com/office/drawing/2014/main" id="{2D12D1CA-9A8D-4B4D-8AB8-42A5DCE1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2197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left-title">
            <a:extLst xmlns:a="http://schemas.openxmlformats.org/drawingml/2006/main">
              <a:ext uri="{FF2B5EF4-FFF2-40B4-BE49-F238E27FC236}">
                <a16:creationId xmlns:a16="http://schemas.microsoft.com/office/drawing/2014/main" id="{E4C37FDE-7F7B-4A9C-86A0-D562D46E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What users bring</a:t>
            </a:r>
          </a:p>
        </p:txBody>
      </p:sp>
      <p:sp>
        <p:nvSpPr>
          <p:cNvPr id="4" name="left-list">
            <a:extLst xmlns:a="http://schemas.openxmlformats.org/drawingml/2006/main">
              <a:ext uri="{FF2B5EF4-FFF2-40B4-BE49-F238E27FC236}">
                <a16:creationId xmlns:a16="http://schemas.microsoft.com/office/drawing/2014/main" id="{21810E97-792C-44B5-82D4-9410C365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Background documents or guided answers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Target sector, role, specialization, and timeline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Constraints such as time, location, or budget</a:t>
            </a:r>
          </a:p>
        </p:txBody>
      </p:sp>
      <p:sp>
        <p:nvSpPr>
          <p:cNvPr id="5" name="right-band">
            <a:extLst xmlns:a="http://schemas.openxmlformats.org/drawingml/2006/main">
              <a:ext uri="{FF2B5EF4-FFF2-40B4-BE49-F238E27FC236}">
                <a16:creationId xmlns:a16="http://schemas.microsoft.com/office/drawing/2014/main" id="{4A7C1E7B-4DD7-4D40-85C6-567250D8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52197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546B4D13-A086-481B-8C29-A66F9BDD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What they get</a:t>
            </a:r>
          </a:p>
        </p:txBody>
      </p:sp>
      <p:sp>
        <p:nvSpPr>
          <p:cNvPr id="7" name="right-list">
            <a:extLst xmlns:a="http://schemas.openxmlformats.org/drawingml/2006/main">
              <a:ext uri="{FF2B5EF4-FFF2-40B4-BE49-F238E27FC236}">
                <a16:creationId xmlns:a16="http://schemas.microsoft.com/office/drawing/2014/main" id="{B09B71AA-F066-4927-A05B-19C6FD4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A structured profile they can inspect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Ranked gaps tied to role evidence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Projects and actions that prove readiness</a:t>
            </a:r>
          </a:p>
        </p:txBody>
      </p:sp>
      <p:sp>
        <p:nvSpPr>
          <p:cNvPr id="8" name="footer-2">
            <a:extLst xmlns:a="http://schemas.openxmlformats.org/drawingml/2006/main">
              <a:ext uri="{FF2B5EF4-FFF2-40B4-BE49-F238E27FC236}">
                <a16:creationId xmlns:a16="http://schemas.microsoft.com/office/drawing/2014/main" id="{078A314D-0996-4E4A-9D6D-F918E9DD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1670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C494028D-2C52-4643-B46B-9DD42A89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demo follows one user path from background to plan.</a:t>
            </a:r>
          </a:p>
        </p:txBody>
      </p:sp>
      <p:sp>
        <p:nvSpPr>
          <p:cNvPr id="2" name="step-1-num">
            <a:extLst xmlns:a="http://schemas.openxmlformats.org/drawingml/2006/main">
              <a:ext uri="{FF2B5EF4-FFF2-40B4-BE49-F238E27FC236}">
                <a16:creationId xmlns:a16="http://schemas.microsoft.com/office/drawing/2014/main" id="{48DB616B-E3C2-4FB5-89E5-50704716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3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8DE6F22D-8D90-4D41-B1DB-B6C1F615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050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Add background</a:t>
            </a:r>
          </a:p>
        </p:txBody>
      </p:sp>
      <p:sp>
        <p:nvSpPr>
          <p:cNvPr id="4" name="step-1-body">
            <a:extLst xmlns:a="http://schemas.openxmlformats.org/drawingml/2006/main">
              <a:ext uri="{FF2B5EF4-FFF2-40B4-BE49-F238E27FC236}">
                <a16:creationId xmlns:a16="http://schemas.microsoft.com/office/drawing/2014/main" id="{268762A1-787A-40DC-AF6C-D04EF1A5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19350"/>
            <a:ext cx="442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6"/>
                </a:solidFill>
              </a:defRPr>
            </a:pPr>
            <a:r>
              <a:rPr sz="1650" b="0">
                <a:solidFill>
                  <a:srgbClr val="565D66"/>
                </a:solidFill>
              </a:rPr>
              <a:t>Upload a resume or answer guided questions.</a:t>
            </a:r>
          </a:p>
        </p:txBody>
      </p:sp>
      <p:sp>
        <p:nvSpPr>
          <p:cNvPr id="5" name="thin-rule">
            <a:extLst xmlns:a="http://schemas.openxmlformats.org/drawingml/2006/main">
              <a:ext uri="{FF2B5EF4-FFF2-40B4-BE49-F238E27FC236}">
                <a16:creationId xmlns:a16="http://schemas.microsoft.com/office/drawing/2014/main" id="{F93BF640-6638-415B-980D-7454A9D9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90900"/>
            <a:ext cx="495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step-2-num">
            <a:extLst xmlns:a="http://schemas.openxmlformats.org/drawingml/2006/main">
              <a:ext uri="{FF2B5EF4-FFF2-40B4-BE49-F238E27FC236}">
                <a16:creationId xmlns:a16="http://schemas.microsoft.com/office/drawing/2014/main" id="{987F08C5-8CD6-45C6-BAF5-E8D76850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7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740D66C6-2AC2-4A1F-8474-3F4C4708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Extract profile</a:t>
            </a:r>
          </a:p>
        </p:txBody>
      </p:sp>
      <p:sp>
        <p:nvSpPr>
          <p:cNvPr id="8" name="step-2-body">
            <a:extLst xmlns:a="http://schemas.openxmlformats.org/drawingml/2006/main">
              <a:ext uri="{FF2B5EF4-FFF2-40B4-BE49-F238E27FC236}">
                <a16:creationId xmlns:a16="http://schemas.microsoft.com/office/drawing/2014/main" id="{F9843F78-FAB6-4C3F-AE20-77E5FE24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19350"/>
            <a:ext cx="442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6"/>
                </a:solidFill>
              </a:defRPr>
            </a:pPr>
            <a:r>
              <a:rPr sz="1650" b="0">
                <a:solidFill>
                  <a:srgbClr val="565D66"/>
                </a:solidFill>
              </a:rPr>
              <a:t>Review education, experience, skills, projects, interests, and constraints.</a:t>
            </a:r>
          </a:p>
        </p:txBody>
      </p:sp>
      <p:sp>
        <p:nvSpPr>
          <p:cNvPr id="9" name="thin-rule">
            <a:extLst xmlns:a="http://schemas.openxmlformats.org/drawingml/2006/main">
              <a:ext uri="{FF2B5EF4-FFF2-40B4-BE49-F238E27FC236}">
                <a16:creationId xmlns:a16="http://schemas.microsoft.com/office/drawing/2014/main" id="{FAD0F231-89B6-46C7-A66E-99A1DD4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90900"/>
            <a:ext cx="495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tep-3-num">
            <a:extLst xmlns:a="http://schemas.openxmlformats.org/drawingml/2006/main">
              <a:ext uri="{FF2B5EF4-FFF2-40B4-BE49-F238E27FC236}">
                <a16:creationId xmlns:a16="http://schemas.microsoft.com/office/drawing/2014/main" id="{D19CDBFF-28CE-4C1A-B743-50DFB2FF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1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3D29724-559A-4610-A0F3-0FFEDA3C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386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Choose a goal</a:t>
            </a:r>
          </a:p>
        </p:txBody>
      </p:sp>
      <p:sp>
        <p:nvSpPr>
          <p:cNvPr id="12" name="step-3-body">
            <a:extLst xmlns:a="http://schemas.openxmlformats.org/drawingml/2006/main">
              <a:ext uri="{FF2B5EF4-FFF2-40B4-BE49-F238E27FC236}">
                <a16:creationId xmlns:a16="http://schemas.microsoft.com/office/drawing/2014/main" id="{30FB84B1-6E2D-4424-A926-95C67398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442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6"/>
                </a:solidFill>
              </a:defRPr>
            </a:pPr>
            <a:r>
              <a:rPr sz="1650" b="0">
                <a:solidFill>
                  <a:srgbClr val="565D66"/>
                </a:solidFill>
              </a:rPr>
              <a:t>Pick sector, target role, specialization, and target timeline.</a:t>
            </a:r>
          </a:p>
        </p:txBody>
      </p:sp>
      <p:sp>
        <p:nvSpPr>
          <p:cNvPr id="13" name="thin-rule">
            <a:extLst xmlns:a="http://schemas.openxmlformats.org/drawingml/2006/main">
              <a:ext uri="{FF2B5EF4-FFF2-40B4-BE49-F238E27FC236}">
                <a16:creationId xmlns:a16="http://schemas.microsoft.com/office/drawing/2014/main" id="{65771368-084D-4FA7-8F0E-0BFFE820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0"/>
            <a:ext cx="495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tep-4-num">
            <a:extLst xmlns:a="http://schemas.openxmlformats.org/drawingml/2006/main">
              <a:ext uri="{FF2B5EF4-FFF2-40B4-BE49-F238E27FC236}">
                <a16:creationId xmlns:a16="http://schemas.microsoft.com/office/drawing/2014/main" id="{902E49B8-A68A-40E5-9E9E-70EDABB0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5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306B4D90-0D21-4284-BF58-0DDB52B8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386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Run agent</a:t>
            </a:r>
          </a:p>
        </p:txBody>
      </p:sp>
      <p:sp>
        <p:nvSpPr>
          <p:cNvPr id="16" name="step-4-body">
            <a:extLst xmlns:a="http://schemas.openxmlformats.org/drawingml/2006/main">
              <a:ext uri="{FF2B5EF4-FFF2-40B4-BE49-F238E27FC236}">
                <a16:creationId xmlns:a16="http://schemas.microsoft.com/office/drawing/2014/main" id="{F0AF293D-92B9-4556-82DE-BE9BE3BF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52950"/>
            <a:ext cx="442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6"/>
                </a:solidFill>
              </a:defRPr>
            </a:pPr>
            <a:r>
              <a:rPr sz="1650" b="0">
                <a:solidFill>
                  <a:srgbClr val="565D66"/>
                </a:solidFill>
              </a:rPr>
              <a:t>Generate fit, gaps, projects, next actions, evidence, warnings, and trace.</a:t>
            </a:r>
          </a:p>
        </p:txBody>
      </p:sp>
      <p:sp>
        <p:nvSpPr>
          <p:cNvPr id="17" name="thin-rule">
            <a:extLst xmlns:a="http://schemas.openxmlformats.org/drawingml/2006/main">
              <a:ext uri="{FF2B5EF4-FFF2-40B4-BE49-F238E27FC236}">
                <a16:creationId xmlns:a16="http://schemas.microsoft.com/office/drawing/2014/main" id="{EA8C1B47-EAFD-4CA4-AEC4-6C17BBCD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4500"/>
            <a:ext cx="495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footer-3">
            <a:extLst xmlns:a="http://schemas.openxmlformats.org/drawingml/2006/main">
              <a:ext uri="{FF2B5EF4-FFF2-40B4-BE49-F238E27FC236}">
                <a16:creationId xmlns:a16="http://schemas.microsoft.com/office/drawing/2014/main" id="{8ED12093-DF79-4657-9A85-F0A0CC5C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4885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444917C1-C0F0-450A-869E-170199B1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Under the hood, PathForge separates extraction, tools, reasoning, and verification.</a:t>
            </a:r>
          </a:p>
        </p:txBody>
      </p:sp>
      <p:sp>
        <p:nvSpPr>
          <p:cNvPr id="2" name="block-0">
            <a:extLst xmlns:a="http://schemas.openxmlformats.org/drawingml/2006/main">
              <a:ext uri="{FF2B5EF4-FFF2-40B4-BE49-F238E27FC236}">
                <a16:creationId xmlns:a16="http://schemas.microsoft.com/office/drawing/2014/main" id="{A303DB11-63E6-4200-849F-EC7C7836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block-0-title">
            <a:extLst xmlns:a="http://schemas.openxmlformats.org/drawingml/2006/main">
              <a:ext uri="{FF2B5EF4-FFF2-40B4-BE49-F238E27FC236}">
                <a16:creationId xmlns:a16="http://schemas.microsoft.com/office/drawing/2014/main" id="{8AE4320E-E974-4FC5-A3A8-E0FD3480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Intake</a:t>
            </a:r>
          </a:p>
        </p:txBody>
      </p:sp>
      <p:sp>
        <p:nvSpPr>
          <p:cNvPr id="4" name="block-0-body">
            <a:extLst xmlns:a="http://schemas.openxmlformats.org/drawingml/2006/main">
              <a:ext uri="{FF2B5EF4-FFF2-40B4-BE49-F238E27FC236}">
                <a16:creationId xmlns:a16="http://schemas.microsoft.com/office/drawing/2014/main" id="{F1BE0572-50B2-4010-A38B-5CE3FB6F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D66"/>
                </a:solidFill>
              </a:defRPr>
            </a:pPr>
            <a:r>
              <a:rPr sz="1275" b="0">
                <a:solidFill>
                  <a:srgbClr val="565D66"/>
                </a:solidFill>
              </a:rPr>
              <a:t>File/text upload becomes readable background text.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3B109C15-01E5-415B-84A4-2A311C58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146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6" name="block-1">
            <a:extLst xmlns:a="http://schemas.openxmlformats.org/drawingml/2006/main">
              <a:ext uri="{FF2B5EF4-FFF2-40B4-BE49-F238E27FC236}">
                <a16:creationId xmlns:a16="http://schemas.microsoft.com/office/drawing/2014/main" id="{D5000A92-3DA9-4520-A684-C85AE75B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block-1-title">
            <a:extLst xmlns:a="http://schemas.openxmlformats.org/drawingml/2006/main">
              <a:ext uri="{FF2B5EF4-FFF2-40B4-BE49-F238E27FC236}">
                <a16:creationId xmlns:a16="http://schemas.microsoft.com/office/drawing/2014/main" id="{245DC50E-1FFF-473F-BA9A-5CC38A12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Extractor</a:t>
            </a:r>
          </a:p>
        </p:txBody>
      </p:sp>
      <p:sp>
        <p:nvSpPr>
          <p:cNvPr id="8" name="block-1-body">
            <a:extLst xmlns:a="http://schemas.openxmlformats.org/drawingml/2006/main">
              <a:ext uri="{FF2B5EF4-FFF2-40B4-BE49-F238E27FC236}">
                <a16:creationId xmlns:a16="http://schemas.microsoft.com/office/drawing/2014/main" id="{76F8AE5D-B3FE-4CED-8CD8-D7307C97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718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D66"/>
                </a:solidFill>
              </a:defRPr>
            </a:pPr>
            <a:r>
              <a:rPr sz="1275" b="0">
                <a:solidFill>
                  <a:srgbClr val="565D66"/>
                </a:solidFill>
              </a:rPr>
              <a:t>The selected provider returns a typed profile.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715823DB-5D26-4F1D-9A58-36B1CDB4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146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10" name="block-2">
            <a:extLst xmlns:a="http://schemas.openxmlformats.org/drawingml/2006/main">
              <a:ext uri="{FF2B5EF4-FFF2-40B4-BE49-F238E27FC236}">
                <a16:creationId xmlns:a16="http://schemas.microsoft.com/office/drawing/2014/main" id="{E39B7A60-428C-4A4E-B173-6514DDCA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3360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block-2-title">
            <a:extLst xmlns:a="http://schemas.openxmlformats.org/drawingml/2006/main">
              <a:ext uri="{FF2B5EF4-FFF2-40B4-BE49-F238E27FC236}">
                <a16:creationId xmlns:a16="http://schemas.microsoft.com/office/drawing/2014/main" id="{F8911416-425F-4E80-A21E-78095790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Tools</a:t>
            </a:r>
          </a:p>
        </p:txBody>
      </p:sp>
      <p:sp>
        <p:nvSpPr>
          <p:cNvPr id="12" name="block-2-body">
            <a:extLst xmlns:a="http://schemas.openxmlformats.org/drawingml/2006/main">
              <a:ext uri="{FF2B5EF4-FFF2-40B4-BE49-F238E27FC236}">
                <a16:creationId xmlns:a16="http://schemas.microsoft.com/office/drawing/2014/main" id="{007B0106-713D-4DB2-89B9-0BD37323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718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D66"/>
                </a:solidFill>
              </a:defRPr>
            </a:pPr>
            <a:r>
              <a:rPr sz="1275" b="0">
                <a:solidFill>
                  <a:srgbClr val="565D66"/>
                </a:solidFill>
              </a:rPr>
              <a:t>Local checks create evidence, gaps, projects, and actions.</a:t>
            </a:r>
          </a:p>
        </p:txBody>
      </p:sp>
      <p:sp>
        <p:nvSpPr>
          <p:cNvPr id="13" name="arrow-2">
            <a:extLst xmlns:a="http://schemas.openxmlformats.org/drawingml/2006/main">
              <a:ext uri="{FF2B5EF4-FFF2-40B4-BE49-F238E27FC236}">
                <a16:creationId xmlns:a16="http://schemas.microsoft.com/office/drawing/2014/main" id="{D684FAC2-F33C-4026-AF3B-E17AFCF1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146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14" name="block-3">
            <a:extLst xmlns:a="http://schemas.openxmlformats.org/drawingml/2006/main">
              <a:ext uri="{FF2B5EF4-FFF2-40B4-BE49-F238E27FC236}">
                <a16:creationId xmlns:a16="http://schemas.microsoft.com/office/drawing/2014/main" id="{280DBA03-9773-4981-9794-36EF932C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3360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lock-3-title">
            <a:extLst xmlns:a="http://schemas.openxmlformats.org/drawingml/2006/main">
              <a:ext uri="{FF2B5EF4-FFF2-40B4-BE49-F238E27FC236}">
                <a16:creationId xmlns:a16="http://schemas.microsoft.com/office/drawing/2014/main" id="{6FD871AD-BF7C-41B8-B52E-055A6A54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Reasoner</a:t>
            </a:r>
          </a:p>
        </p:txBody>
      </p:sp>
      <p:sp>
        <p:nvSpPr>
          <p:cNvPr id="16" name="block-3-body">
            <a:extLst xmlns:a="http://schemas.openxmlformats.org/drawingml/2006/main">
              <a:ext uri="{FF2B5EF4-FFF2-40B4-BE49-F238E27FC236}">
                <a16:creationId xmlns:a16="http://schemas.microsoft.com/office/drawing/2014/main" id="{03838FAD-08BE-4FE1-AD52-35858954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D66"/>
                </a:solidFill>
              </a:defRPr>
            </a:pPr>
            <a:r>
              <a:rPr sz="1275" b="0">
                <a:solidFill>
                  <a:srgbClr val="565D66"/>
                </a:solidFill>
              </a:rPr>
              <a:t>Provider synthesizes the final typed career plan.</a:t>
            </a:r>
          </a:p>
        </p:txBody>
      </p:sp>
      <p:sp>
        <p:nvSpPr>
          <p:cNvPr id="17" name="arrow-3">
            <a:extLst xmlns:a="http://schemas.openxmlformats.org/drawingml/2006/main">
              <a:ext uri="{FF2B5EF4-FFF2-40B4-BE49-F238E27FC236}">
                <a16:creationId xmlns:a16="http://schemas.microsoft.com/office/drawing/2014/main" id="{2D2E6ED1-9B7E-4C47-9BC2-53C886B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146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18" name="block-4">
            <a:extLst xmlns:a="http://schemas.openxmlformats.org/drawingml/2006/main">
              <a:ext uri="{FF2B5EF4-FFF2-40B4-BE49-F238E27FC236}">
                <a16:creationId xmlns:a16="http://schemas.microsoft.com/office/drawing/2014/main" id="{9E3EEDA1-CC40-4E72-8657-2B3F9F5E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3360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block-4-title">
            <a:extLst xmlns:a="http://schemas.openxmlformats.org/drawingml/2006/main">
              <a:ext uri="{FF2B5EF4-FFF2-40B4-BE49-F238E27FC236}">
                <a16:creationId xmlns:a16="http://schemas.microsoft.com/office/drawing/2014/main" id="{FF6D4BAD-49E2-4F8A-BC4B-24AA63A3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Verifier</a:t>
            </a:r>
          </a:p>
        </p:txBody>
      </p:sp>
      <p:sp>
        <p:nvSpPr>
          <p:cNvPr id="20" name="block-4-body">
            <a:extLst xmlns:a="http://schemas.openxmlformats.org/drawingml/2006/main">
              <a:ext uri="{FF2B5EF4-FFF2-40B4-BE49-F238E27FC236}">
                <a16:creationId xmlns:a16="http://schemas.microsoft.com/office/drawing/2014/main" id="{4C9B4D9C-0466-46BE-BBF2-3468BA6D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718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D66"/>
                </a:solidFill>
              </a:defRPr>
            </a:pPr>
            <a:r>
              <a:rPr sz="1275" b="0">
                <a:solidFill>
                  <a:srgbClr val="565D66"/>
                </a:solidFill>
              </a:rPr>
              <a:t>Trace, caveats, warnings, latency, and fallback metadata stay visible.</a:t>
            </a:r>
          </a:p>
        </p:txBody>
      </p:sp>
      <p:sp>
        <p:nvSpPr>
          <p:cNvPr id="21" name="bottom">
            <a:extLst xmlns:a="http://schemas.openxmlformats.org/drawingml/2006/main">
              <a:ext uri="{FF2B5EF4-FFF2-40B4-BE49-F238E27FC236}">
                <a16:creationId xmlns:a16="http://schemas.microsoft.com/office/drawing/2014/main" id="{722C4CCD-95C7-40E6-880F-5410DE47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1043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Provider boundaries keep the app from depending on one model vendor, while typed schemas keep outputs renderable and testable.</a:t>
            </a:r>
          </a:p>
        </p:txBody>
      </p:sp>
      <p:sp>
        <p:nvSpPr>
          <p:cNvPr id="22" name="footer-4">
            <a:extLst xmlns:a="http://schemas.openxmlformats.org/drawingml/2006/main">
              <a:ext uri="{FF2B5EF4-FFF2-40B4-BE49-F238E27FC236}">
                <a16:creationId xmlns:a16="http://schemas.microsoft.com/office/drawing/2014/main" id="{4F025674-ACAD-4BE7-8F43-38381E90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0090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left">
            <a:extLst xmlns:a="http://schemas.openxmlformats.org/drawingml/2006/main">
              <a:ext uri="{FF2B5EF4-FFF2-40B4-BE49-F238E27FC236}">
                <a16:creationId xmlns:a16="http://schemas.microsoft.com/office/drawing/2014/main" id="{2514DE2B-41E2-47BF-A23D-D935810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What to remember</a:t>
            </a:r>
          </a:p>
        </p:txBody>
      </p:sp>
      <p:sp>
        <p:nvSpPr>
          <p:cNvPr id="2" name="top-right">
            <a:extLst xmlns:a="http://schemas.openxmlformats.org/drawingml/2006/main">
              <a:ext uri="{FF2B5EF4-FFF2-40B4-BE49-F238E27FC236}">
                <a16:creationId xmlns:a16="http://schemas.microsoft.com/office/drawing/2014/main" id="{7B02464F-DCE3-4405-ABDC-E80A6076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PathForge AI</a:t>
            </a:r>
          </a:p>
        </p:txBody>
      </p:sp>
      <p:sp>
        <p:nvSpPr>
          <p:cNvPr id="3" name="big">
            <a:extLst xmlns:a="http://schemas.openxmlformats.org/drawingml/2006/main">
              <a:ext uri="{FF2B5EF4-FFF2-40B4-BE49-F238E27FC236}">
                <a16:creationId xmlns:a16="http://schemas.microsoft.com/office/drawing/2014/main" id="{62172663-3D90-489A-B16B-0F0B7462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90800"/>
            <a:ext cx="981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A good career plan should show its evidence, not just its advice.</a:t>
            </a:r>
          </a:p>
        </p:txBody>
      </p:sp>
      <p:sp>
        <p:nvSpPr>
          <p:cNvPr id="4" name="close">
            <a:extLst xmlns:a="http://schemas.openxmlformats.org/drawingml/2006/main">
              <a:ext uri="{FF2B5EF4-FFF2-40B4-BE49-F238E27FC236}">
                <a16:creationId xmlns:a16="http://schemas.microsoft.com/office/drawing/2014/main" id="{2E81F412-0D60-4D08-AB66-C6F604EC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6"/>
                </a:solidFill>
              </a:defRPr>
            </a:pPr>
            <a:r>
              <a:rPr sz="1650" b="0">
                <a:solidFill>
                  <a:srgbClr val="565D66"/>
                </a:solidFill>
              </a:rPr>
              <a:t>Close the demo by showing one recommended project, one ranked gap, and one trace/warning line.</a:t>
            </a:r>
          </a:p>
        </p:txBody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3C201C5B-3DAD-4375-8CFE-7C1E368E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5763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2026-08-23T22:55:22.1660000Z</dcterms:created>
  <dcterms:modified xsi:type="dcterms:W3CDTF">2026-08-23T22:55:22.1670000Z</dcterms:modified>
</coreProperties>
</file>