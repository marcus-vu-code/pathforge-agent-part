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3adf7529ca4abb" /><Relationship Type="http://schemas.openxmlformats.org/officeDocument/2006/relationships/extended-properties" Target="/docProps/app.xml" Id="R0f7ef88a0eaa4669" /><Relationship Type="http://schemas.openxmlformats.org/officeDocument/2006/relationships/officeDocument" Target="/ppt/presentation.xml" Id="R463ee6ae8bdd4534" /></Relationships>
</file>

<file path=ppt/presentation.xml><?xml version="1.0" encoding="utf-8"?>
<p:presentation xmlns:p="http://schemas.openxmlformats.org/presentationml/2006/main">
  <p:sldMasterIdLst>
    <p:sldMasterId xmlns:r="http://schemas.openxmlformats.org/officeDocument/2006/relationships" id="2147483648" r:id="Ra6b7a7753de347d9"/>
  </p:sldMasterIdLst>
  <p:notesMasterIdLst>
    <p:notesMasterId xmlns:r="http://schemas.openxmlformats.org/officeDocument/2006/relationships" r:id="Rbac552ec04824268"/>
  </p:notesMasterIdLst>
  <p:sldIdLst>
    <p:sldId xmlns:r="http://schemas.openxmlformats.org/officeDocument/2006/relationships" id="256" r:id="R446e2bf52d9a457f"/>
    <p:sldId xmlns:r="http://schemas.openxmlformats.org/officeDocument/2006/relationships" id="257" r:id="R30cc89e535de438a"/>
    <p:sldId xmlns:r="http://schemas.openxmlformats.org/officeDocument/2006/relationships" id="258" r:id="R05f72c2589d94b45"/>
    <p:sldId xmlns:r="http://schemas.openxmlformats.org/officeDocument/2006/relationships" id="259" r:id="R54fdffaa2cc642cb"/>
    <p:sldId xmlns:r="http://schemas.openxmlformats.org/officeDocument/2006/relationships" id="260" r:id="R61f3680e783c4407"/>
    <p:sldId xmlns:r="http://schemas.openxmlformats.org/officeDocument/2006/relationships" id="261" r:id="R345d226e66fc47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cd30198cb54d6a" /><Relationship Type="http://schemas.openxmlformats.org/officeDocument/2006/relationships/slideMaster" Target="/ppt/slideMasters/slideMaster1.xml" Id="Ra6b7a7753de347d9" /><Relationship Type="http://schemas.openxmlformats.org/officeDocument/2006/relationships/notesMaster" Target="/ppt/notesMasters/notesMaster1.xml" Id="Rbac552ec04824268" /><Relationship Type="http://schemas.openxmlformats.org/officeDocument/2006/relationships/presProps" Target="/ppt/presProps.xml" Id="R97488469b0db465d" /><Relationship Type="http://schemas.openxmlformats.org/officeDocument/2006/relationships/tableStyles" Target="/ppt/tableStyles.xml" Id="Re57c38fa68004e03" /><Relationship Type="http://schemas.openxmlformats.org/officeDocument/2006/relationships/slide" Target="/ppt/slides/slide1.xml" Id="R446e2bf52d9a457f" /><Relationship Type="http://schemas.openxmlformats.org/officeDocument/2006/relationships/slide" Target="/ppt/slides/slide2.xml" Id="R30cc89e535de438a" /><Relationship Type="http://schemas.openxmlformats.org/officeDocument/2006/relationships/slide" Target="/ppt/slides/slide3.xml" Id="R05f72c2589d94b45" /><Relationship Type="http://schemas.openxmlformats.org/officeDocument/2006/relationships/slide" Target="/ppt/slides/slide4.xml" Id="R54fdffaa2cc642cb" /><Relationship Type="http://schemas.openxmlformats.org/officeDocument/2006/relationships/slide" Target="/ppt/slides/slide5.xml" Id="R61f3680e783c4407" /><Relationship Type="http://schemas.openxmlformats.org/officeDocument/2006/relationships/slide" Target="/ppt/slides/slide6.xml" Id="R345d226e66fc47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efb33ed1674a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33bc1d1c64428f" /><Relationship Type="http://schemas.openxmlformats.org/officeDocument/2006/relationships/notesMaster" Target="/ppt/notesMasters/notesMaster1.xml" Id="R38c99b72edfa4e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f46eb9c6f24dec" /><Relationship Type="http://schemas.openxmlformats.org/officeDocument/2006/relationships/notesMaster" Target="/ppt/notesMasters/notesMaster1.xml" Id="R74745f9f900f42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231b6113974f40" /><Relationship Type="http://schemas.openxmlformats.org/officeDocument/2006/relationships/notesMaster" Target="/ppt/notesMasters/notesMaster1.xml" Id="R2b96ea3dfb0b47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02a52176fd4bba" /><Relationship Type="http://schemas.openxmlformats.org/officeDocument/2006/relationships/notesMaster" Target="/ppt/notesMasters/notesMaster1.xml" Id="Rd6bef3b238f44c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cf27e8fc334703" /><Relationship Type="http://schemas.openxmlformats.org/officeDocument/2006/relationships/notesMaster" Target="/ppt/notesMasters/notesMaster1.xml" Id="Rb3f7434e80904f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94c5ed81044050" /><Relationship Type="http://schemas.openxmlformats.org/officeDocument/2006/relationships/notesMaster" Target="/ppt/notesMasters/notesMaster1.xml" Id="Rf48f63adba6c4f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a:t>
            </a:r>
          </a:p>
          <a:p xmlns:a="http://schemas.openxmlformats.org/drawingml/2006/main">
            <a:r>
              <a:t/>
            </a:r>
          </a:p>
          <a:p xmlns:a="http://schemas.openxmlformats.org/drawingml/2006/main">
            <a:r>
              <a:t>Opening script:</a:t>
            </a:r>
          </a:p>
          <a:p xmlns:a="http://schemas.openxmlformats.org/drawingml/2006/main">
            <a:r>
              <a:t>"Career advice is everywhere, but most of it starts with assumptions. Path Forger starts with evidence. It turns resumes, transcripts, project notes, or guided answers into a career plan people can inspect and act on."</a:t>
            </a:r>
          </a:p>
          <a:p xmlns:a="http://schemas.openxmlformats.org/drawingml/2006/main">
            <a:r>
              <a:t/>
            </a:r>
          </a:p>
          <a:p xmlns:a="http://schemas.openxmlformats.org/drawingml/2006/main">
            <a:r>
              <a:t>Delivery cue: Pause after "starts with evidence." Do not explain the architecture yet.</a:t>
            </a:r>
          </a:p>
          <a:p xmlns:a="http://schemas.openxmlformats.org/drawingml/2006/main">
            <a:r>
              <a:t/>
            </a:r>
          </a:p>
          <a:p xmlns:a="http://schemas.openxmlformats.org/drawingml/2006/main">
            <a:r>
              <a:t>[Sources]</a:t>
            </a:r>
          </a:p>
          <a:p xmlns:a="http://schemas.openxmlformats.org/drawingml/2006/main">
            <a:r>
              <a:t>- Updated demo instructions - seven minutes total, approximately five minutes for the live demo, remaining time for Q&amp;A</a:t>
            </a:r>
          </a:p>
          <a:p xmlns:a="http://schemas.openxmlformats.org/drawingml/2006/main">
            <a:r>
              <a:t>- frontend/src/main.tsx - current Path Forger product positioning</a:t>
            </a:r>
          </a:p>
          <a:p xmlns:a="http://schemas.openxmlformats.org/drawingml/2006/main">
            <a:r>
              <a:t>- Generated cover visual: original AI-generated asset created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0:25-0:45</a:t>
            </a:r>
          </a:p>
          <a:p xmlns:a="http://schemas.openxmlformats.org/drawingml/2006/main">
            <a:r>
              <a:t/>
            </a:r>
          </a:p>
          <a:p xmlns:a="http://schemas.openxmlformats.org/drawingml/2006/main">
            <a:r>
              <a:t>"The problem is not a lack of AI-generated advice. The problem is trust. During the demo, watch for three things: an editable profile, role-specific gaps and projects, and the evidence or warning behind the plan."</a:t>
            </a:r>
          </a:p>
          <a:p xmlns:a="http://schemas.openxmlformats.org/drawingml/2006/main">
            <a:r>
              <a:t/>
            </a:r>
          </a:p>
          <a:p xmlns:a="http://schemas.openxmlformats.org/drawingml/2006/main">
            <a:r>
              <a:t>Scoring emphasis: originality and usefulness.</a:t>
            </a:r>
          </a:p>
          <a:p xmlns:a="http://schemas.openxmlformats.org/drawingml/2006/main">
            <a:r>
              <a:t/>
            </a:r>
          </a:p>
          <a:p xmlns:a="http://schemas.openxmlformats.org/drawingml/2006/main">
            <a:r>
              <a:t>[Sources]</a:t>
            </a:r>
          </a:p>
          <a:p xmlns:a="http://schemas.openxmlformats.org/drawingml/2006/main">
            <a:r>
              <a:t>- Intern_Capstone_Scoring_Sheet.pdf - originality and usefulness criteria</a:t>
            </a:r>
          </a:p>
          <a:p xmlns:a="http://schemas.openxmlformats.org/drawingml/2006/main">
            <a:r>
              <a:t>- README.md - product purpose and architecture</a:t>
            </a:r>
          </a:p>
          <a:p xmlns:a="http://schemas.openxmlformats.org/drawingml/2006/main">
            <a:r>
              <a:t>- frontend/src/main.tsx - profile review, gaps, projects, evidence, warnings, and trace UI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0:45-5:45 - LIVE DEMO</a:t>
            </a:r>
          </a:p>
          <a:p xmlns:a="http://schemas.openxmlformats.org/drawingml/2006/main">
            <a:r>
              <a:t/>
            </a:r>
          </a:p>
          <a:p xmlns:a="http://schemas.openxmlformats.org/drawingml/2006/main">
            <a:r>
              <a:t>Use a short synthetic background, not a real resume.</a:t>
            </a:r>
          </a:p>
          <a:p xmlns:a="http://schemas.openxmlformats.org/drawingml/2006/main">
            <a:r>
              <a:t/>
            </a:r>
          </a:p>
          <a:p xmlns:a="http://schemas.openxmlformats.org/drawingml/2006/main">
            <a:r>
              <a:t>1. Start on Overview and point out the focused page navigation: Student, Background, Profile, Goal, Results, and Review.</a:t>
            </a:r>
          </a:p>
          <a:p xmlns:a="http://schemas.openxmlformats.org/drawingml/2006/main">
            <a:r>
              <a:t>2. Open Student and show how a K-12 learner can create usable context without a resume.</a:t>
            </a:r>
          </a:p>
          <a:p xmlns:a="http://schemas.openxmlformats.org/drawingml/2006/main">
            <a:r>
              <a:t>3. In Background, paste: "High school senior. Built a Python budgeting app and a robotics team website. Enjoys data, design, and helping classmates. Wants a remote-friendly technology career."</a:t>
            </a:r>
          </a:p>
          <a:p xmlns:a="http://schemas.openxmlformats.org/drawingml/2006/main">
            <a:r>
              <a:t>4. Click Extract Profile. Say: "The profile is editable before the agent reasons from it."</a:t>
            </a:r>
          </a:p>
          <a:p xmlns:a="http://schemas.openxmlformats.org/drawingml/2006/main">
            <a:r>
              <a:t>5. Choose Technology -&gt; Data Analyst (or another configured role), a specialization, and a realistic timeline.</a:t>
            </a:r>
          </a:p>
          <a:p xmlns:a="http://schemas.openxmlformats.org/drawingml/2006/main">
            <a:r>
              <a:t>6. Click Run Agent. The app routes directly to the dedicated Results page.</a:t>
            </a:r>
          </a:p>
          <a:p xmlns:a="http://schemas.openxmlformats.org/drawingml/2006/main">
            <a:r>
              <a:t>7. Show exactly five things: recommended path, top gap, one project, evidence or warning, and provider trace.</a:t>
            </a:r>
          </a:p>
          <a:p xmlns:a="http://schemas.openxmlformats.org/drawingml/2006/main">
            <a:r>
              <a:t>8. Open Review briefly to show the feedback loop, then return to slide 4.</a:t>
            </a:r>
          </a:p>
          <a:p xmlns:a="http://schemas.openxmlformats.org/drawingml/2006/main">
            <a:r>
              <a:t/>
            </a:r>
          </a:p>
          <a:p xmlns:a="http://schemas.openxmlformats.org/drawingml/2006/main">
            <a:r>
              <a:t>Bridge: "That is the complete loop: context, reviewed facts, a goal, an evidence-grounded plan, and a feedback path."</a:t>
            </a:r>
          </a:p>
          <a:p xmlns:a="http://schemas.openxmlformats.org/drawingml/2006/main">
            <a:r>
              <a:t/>
            </a:r>
          </a:p>
          <a:p xmlns:a="http://schemas.openxmlformats.org/drawingml/2006/main">
            <a:r>
              <a:t>Fallback if the live API is slow: switch to the configured offline demo provider and repeat the same flow.</a:t>
            </a:r>
          </a:p>
          <a:p xmlns:a="http://schemas.openxmlformats.org/drawingml/2006/main">
            <a:r>
              <a:t/>
            </a:r>
          </a:p>
          <a:p xmlns:a="http://schemas.openxmlformats.org/drawingml/2006/main">
            <a:r>
              <a:t>[Sources]</a:t>
            </a:r>
          </a:p>
          <a:p xmlns:a="http://schemas.openxmlformats.org/drawingml/2006/main">
            <a:r>
              <a:t>- frontend/src/main.tsx - page-based workflow, K-12 builder, input, goal, results, review, provider, and trace controls</a:t>
            </a:r>
          </a:p>
          <a:p xmlns:a="http://schemas.openxmlformats.org/drawingml/2006/main">
            <a:r>
              <a:t>- README.md - fake/offline provider mode and supported provider modes</a:t>
            </a:r>
          </a:p>
          <a:p xmlns:a="http://schemas.openxmlformats.org/drawingml/2006/main">
            <a:r>
              <a:t>- intern_capstone_project_final.pdf - presentation requires a working-app demo</a:t>
            </a:r>
          </a:p>
          <a:p xmlns:a="http://schemas.openxmlformats.org/drawingml/2006/main">
            <a:r>
              <a:t>- User-provided Path Forger screenshots - Background, Profile, and Results pages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5:45-7:00 - CLOSE AND Q&amp;A</a:t>
            </a:r>
          </a:p>
          <a:p xmlns:a="http://schemas.openxmlformats.org/drawingml/2006/main">
            <a:r>
              <a:t/>
            </a:r>
          </a:p>
          <a:p xmlns:a="http://schemas.openxmlformats.org/drawingml/2006/main">
            <a:r>
              <a:t>Closing script:</a:t>
            </a:r>
          </a:p>
          <a:p xmlns:a="http://schemas.openxmlformats.org/drawingml/2006/main">
            <a:r>
              <a:t>"Path Forger is useful because it does more than produce an answer. It shows the profile it extracted, the evidence it used, the gaps it found, and the projects and actions that can close those gaps. A good career plan should show its evidence, not just its advice."</a:t>
            </a:r>
          </a:p>
          <a:p xmlns:a="http://schemas.openxmlformats.org/drawingml/2006/main">
            <a:r>
              <a:t/>
            </a:r>
          </a:p>
          <a:p xmlns:a="http://schemas.openxmlformats.org/drawingml/2006/main">
            <a:r>
              <a:t>Final sentence: "That is the difference between a chatbot response and a plan someone can actually critique, improve, and follow."</a:t>
            </a:r>
          </a:p>
          <a:p xmlns:a="http://schemas.openxmlformats.org/drawingml/2006/main">
            <a:r>
              <a:t/>
            </a:r>
          </a:p>
          <a:p xmlns:a="http://schemas.openxmlformats.org/drawingml/2006/main">
            <a:r>
              <a:t>Stop. Look at the evaluators. Invite questions.</a:t>
            </a:r>
          </a:p>
          <a:p xmlns:a="http://schemas.openxmlformats.org/drawingml/2006/main">
            <a:r>
              <a:t/>
            </a:r>
          </a:p>
          <a:p xmlns:a="http://schemas.openxmlformats.org/drawingml/2006/main">
            <a:r>
              <a:t>[Sources]</a:t>
            </a:r>
          </a:p>
          <a:p xmlns:a="http://schemas.openxmlformats.org/drawingml/2006/main">
            <a:r>
              <a:t>- README.md - project purpose</a:t>
            </a:r>
          </a:p>
          <a:p xmlns:a="http://schemas.openxmlformats.org/drawingml/2006/main">
            <a:r>
              <a:t>- Intern_Capstone_Scoring_Sheet.pdf - usefulness and presentation criteria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BACKUP - open only if asked about architecture or reliability.</a:t>
            </a:r>
          </a:p>
          <a:p xmlns:a="http://schemas.openxmlformats.org/drawingml/2006/main">
            <a:r>
              <a:t/>
            </a:r>
          </a:p>
          <a:p xmlns:a="http://schemas.openxmlformats.org/drawingml/2006/main">
            <a:r>
              <a:t>"The application does not ask one model to do everything. First, an extractor creates a typed profile. Second, deterministic tools calculate evidence, gaps, projects, and actions. Third, a reasoner synthesizes the plan, and a verifier checks what should be shown as a warning or caveat."</a:t>
            </a:r>
          </a:p>
          <a:p xmlns:a="http://schemas.openxmlformats.org/drawingml/2006/main">
            <a:r>
              <a:t/>
            </a:r>
          </a:p>
          <a:p xmlns:a="http://schemas.openxmlformats.org/drawingml/2006/main">
            <a:r>
              <a:t>"Because extraction and reasoning are protocols, I can use Gemini, OpenAI, local Qwen, a partner HTTP model service, or the offline demo without changing the app's core logic."</a:t>
            </a:r>
          </a:p>
          <a:p xmlns:a="http://schemas.openxmlformats.org/drawingml/2006/main">
            <a:r>
              <a:t/>
            </a:r>
          </a:p>
          <a:p xmlns:a="http://schemas.openxmlformats.org/drawingml/2006/main">
            <a:r>
              <a:t>Keep this explanation high-level; do not read every provider name slowly.</a:t>
            </a:r>
          </a:p>
          <a:p xmlns:a="http://schemas.openxmlformats.org/drawingml/2006/main">
            <a:r>
              <a:t/>
            </a:r>
          </a:p>
          <a:p xmlns:a="http://schemas.openxmlformats.org/drawingml/2006/main">
            <a:r>
              <a:t>[Sources]</a:t>
            </a:r>
          </a:p>
          <a:p xmlns:a="http://schemas.openxmlformats.org/drawingml/2006/main">
            <a:r>
              <a:t>- README.md - architecture, provider modes, and local MoLE HTTP contract</a:t>
            </a:r>
          </a:p>
          <a:p xmlns:a="http://schemas.openxmlformats.org/drawingml/2006/main">
            <a:r>
              <a:t>- backend/app/agent/orchestrator.py - tool orchestration and trace preservation</a:t>
            </a:r>
          </a:p>
          <a:p xmlns:a="http://schemas.openxmlformats.org/drawingml/2006/main">
            <a:r>
              <a:t>- backend/app/providers/base.py - BackgroundExtractor and CareerReasoner protocols</a:t>
            </a:r>
          </a:p>
          <a:p xmlns:a="http://schemas.openxmlformats.org/drawingml/2006/main">
            <a:r>
              <a:t>- backend/app/agent/verifier.py - verifier behavior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BACKUP - open only if asked about AI usage, testing, or provider choices.</a:t>
            </a:r>
          </a:p>
          <a:p xmlns:a="http://schemas.openxmlformats.org/drawingml/2006/main">
            <a:r>
              <a:t/>
            </a:r>
          </a:p>
          <a:p xmlns:a="http://schemas.openxmlformats.org/drawingml/2006/main">
            <a:r>
              <a:t>"The capstone required two development agents, so I separated their jobs. Claude Code was used for architecture and review. OpenAI Codex was used for focused implementation, debugging, tests, and documentation. I stayed responsible for the product decisions and what actually shipped."</a:t>
            </a:r>
          </a:p>
          <a:p xmlns:a="http://schemas.openxmlformats.org/drawingml/2006/main">
            <a:r>
              <a:t/>
            </a:r>
          </a:p>
          <a:p xmlns:a="http://schemas.openxmlformats.org/drawingml/2006/main">
            <a:r>
              <a:t>"Inside the app, the direct LLM integration is also provider-neutral. Gemini, OpenAI, and Qwen all have to return the same typed structures. That lets the app validate outputs and keep trace fields instead of trusting free-form text."</a:t>
            </a:r>
          </a:p>
          <a:p xmlns:a="http://schemas.openxmlformats.org/drawingml/2006/main">
            <a:r>
              <a:t/>
            </a:r>
          </a:p>
          <a:p xmlns:a="http://schemas.openxmlformats.org/drawingml/2006/main">
            <a:r>
              <a:t>Optional proof point if asked: the committed fake-provider evaluation covers five synthetic personas, each with five tool calls and six evidence citations; the ambiguous case intentionally surfaces a verifier warning.</a:t>
            </a:r>
          </a:p>
          <a:p xmlns:a="http://schemas.openxmlformats.org/drawingml/2006/main">
            <a:r>
              <a:t/>
            </a:r>
          </a:p>
          <a:p xmlns:a="http://schemas.openxmlformats.org/drawingml/2006/main">
            <a:r>
              <a:t>Important: If your actual agent split differed, update this slide and AI_PROMPTS.md before presenting.</a:t>
            </a:r>
          </a:p>
          <a:p xmlns:a="http://schemas.openxmlformats.org/drawingml/2006/main">
            <a:r>
              <a:t/>
            </a:r>
          </a:p>
          <a:p xmlns:a="http://schemas.openxmlformats.org/drawingml/2006/main">
            <a:r>
              <a:t>[Sources]</a:t>
            </a:r>
          </a:p>
          <a:p xmlns:a="http://schemas.openxmlformats.org/drawingml/2006/main">
            <a:r>
              <a:t>- intern_capstone_project_final.pdf - two-agent development workflow and direct LLM API requirements</a:t>
            </a:r>
          </a:p>
          <a:p xmlns:a="http://schemas.openxmlformats.org/drawingml/2006/main">
            <a:r>
              <a:t>- AI_PROMPTS.md - development agent roles and runtime prompts</a:t>
            </a:r>
          </a:p>
          <a:p xmlns:a="http://schemas.openxmlformats.org/drawingml/2006/main">
            <a:r>
              <a:t>- backend/evaluation/results.json - committed deterministic evaluation snapshot</a:t>
            </a:r>
          </a:p>
          <a:p xmlns:a="http://schemas.openxmlformats.org/drawingml/2006/main">
            <a:r>
              <a:t>- backend/tests - schema, provider, fallback, verifier, tool, and API tests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e908c4ab154e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1437b7673946ec" /><Relationship Type="http://schemas.openxmlformats.org/officeDocument/2006/relationships/slideLayout" Target="/ppt/slideLayouts/slideLayout1.xml" Id="R2a48a3bdb8014b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48a3bdb8014b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ea7209084944c72" /><Relationship Type="http://schemas.openxmlformats.org/officeDocument/2006/relationships/image" Target="/ppt/media/image.png" Id="R69de2d1491dd4ac2" /><Relationship Type="http://schemas.openxmlformats.org/officeDocument/2006/relationships/notesSlide" Target="/ppt/notesSlides/notesSlide1.xml" Id="R664fcf943bc14c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04075f1a6847c1" /><Relationship Type="http://schemas.openxmlformats.org/officeDocument/2006/relationships/notesSlide" Target="/ppt/notesSlides/notesSlide2.xml" Id="R2d34df62fd6447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dee98e801a74dd2" /><Relationship Type="http://schemas.openxmlformats.org/officeDocument/2006/relationships/image" Target="/ppt/media/image2.png" Id="R46e247788f92459b" /><Relationship Type="http://schemas.openxmlformats.org/officeDocument/2006/relationships/image" Target="/ppt/media/image3.png" Id="Rf1520c6200e9417b" /><Relationship Type="http://schemas.openxmlformats.org/officeDocument/2006/relationships/image" Target="/ppt/media/image4.png" Id="Rbe6dc16f1009405f" /><Relationship Type="http://schemas.openxmlformats.org/officeDocument/2006/relationships/notesSlide" Target="/ppt/notesSlides/notesSlide3.xml" Id="R5b55be710d7645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3c7aaf1933473d" /><Relationship Type="http://schemas.openxmlformats.org/officeDocument/2006/relationships/notesSlide" Target="/ppt/notesSlides/notesSlide4.xml" Id="Rf5418800ea7a4d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b3aa0468464fd2" /><Relationship Type="http://schemas.openxmlformats.org/officeDocument/2006/relationships/notesSlide" Target="/ppt/notesSlides/notesSlide5.xml" Id="Rd4f850494b1943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9fa80982144360" /><Relationship Type="http://schemas.openxmlformats.org/officeDocument/2006/relationships/notesSlide" Target="/ppt/notesSlides/notesSlide6.xml" Id="R78feaca31e7345e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ver-kicker">
            <a:extLst xmlns:a="http://schemas.openxmlformats.org/drawingml/2006/main">
              <a:ext uri="{FF2B5EF4-FFF2-40B4-BE49-F238E27FC236}">
                <a16:creationId xmlns:a16="http://schemas.microsoft.com/office/drawing/2014/main" id="{D67B4A50-70E8-4E91-86D5-770D6158F50E}"/>
              </a:ext>
            </a:extLst>
          </p:cNvPr>
          <p:cNvSpPr>
            <a:spLocks xmlns:a="http://schemas.openxmlformats.org/drawingml/2006/main" noGrp="1"/>
          </p:cNvSpPr>
          <p:nvPr/>
        </p:nvSpPr>
        <p:spPr>
          <a:xfrm xmlns:a="http://schemas.openxmlformats.org/drawingml/2006/main">
            <a:off x="390525" y="361950"/>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200" b="1">
                <a:solidFill>
                  <a:srgbClr val="0F766E"/>
                </a:solidFill>
                <a:latin typeface="Arial"/>
                <a:ea typeface="Arial"/>
                <a:cs typeface="Arial"/>
              </a:defRPr>
            </a:pPr>
            <a:r>
              <a:rPr sz="1200" b="1">
                <a:solidFill>
                  <a:srgbClr val="0F766E"/>
                </a:solidFill>
                <a:latin typeface="Arial"/>
                <a:ea typeface="Arial"/>
                <a:cs typeface="Arial"/>
              </a:rPr>
              <a:t>PATHFORGE CAPSTONE  /  AI SUMMER SHOWDOWN</a:t>
            </a:r>
          </a:p>
        </p:txBody>
      </p:sp>
      <p:sp>
        <p:nvSpPr>
          <p:cNvPr id="2" name="cover-title">
            <a:extLst xmlns:a="http://schemas.openxmlformats.org/drawingml/2006/main">
              <a:ext uri="{FF2B5EF4-FFF2-40B4-BE49-F238E27FC236}">
                <a16:creationId xmlns:a16="http://schemas.microsoft.com/office/drawing/2014/main" id="{D87DC03E-EED2-483C-9B0B-2B4523FBCD2A}"/>
              </a:ext>
            </a:extLst>
          </p:cNvPr>
          <p:cNvSpPr>
            <a:spLocks xmlns:a="http://schemas.openxmlformats.org/drawingml/2006/main" noGrp="1"/>
          </p:cNvSpPr>
          <p:nvPr/>
        </p:nvSpPr>
        <p:spPr>
          <a:xfrm xmlns:a="http://schemas.openxmlformats.org/drawingml/2006/main">
            <a:off x="390525" y="990600"/>
            <a:ext cx="5429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4650" b="1">
                <a:solidFill>
                  <a:srgbClr val="111111"/>
                </a:solidFill>
                <a:latin typeface="Arial"/>
                <a:ea typeface="Arial"/>
                <a:cs typeface="Arial"/>
              </a:defRPr>
            </a:pPr>
            <a:r>
              <a:rPr sz="4650" b="1">
                <a:solidFill>
                  <a:srgbClr val="111111"/>
                </a:solidFill>
                <a:latin typeface="Arial"/>
                <a:ea typeface="Arial"/>
                <a:cs typeface="Arial"/>
              </a:rPr>
              <a:t>Path Forger</a:t>
            </a:r>
          </a:p>
        </p:txBody>
      </p:sp>
      <p:sp>
        <p:nvSpPr>
          <p:cNvPr id="3" name="cover-body">
            <a:extLst xmlns:a="http://schemas.openxmlformats.org/drawingml/2006/main">
              <a:ext uri="{FF2B5EF4-FFF2-40B4-BE49-F238E27FC236}">
                <a16:creationId xmlns:a16="http://schemas.microsoft.com/office/drawing/2014/main" id="{0288FB21-7911-4A39-8F93-631A6937E7CA}"/>
              </a:ext>
            </a:extLst>
          </p:cNvPr>
          <p:cNvSpPr>
            <a:spLocks xmlns:a="http://schemas.openxmlformats.org/drawingml/2006/main" noGrp="1"/>
          </p:cNvSpPr>
          <p:nvPr/>
        </p:nvSpPr>
        <p:spPr>
          <a:xfrm xmlns:a="http://schemas.openxmlformats.org/drawingml/2006/main">
            <a:off x="390525" y="2152650"/>
            <a:ext cx="53340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325" b="0">
                <a:solidFill>
                  <a:srgbClr val="111111"/>
                </a:solidFill>
                <a:latin typeface="Arial"/>
                <a:ea typeface="Arial"/>
                <a:cs typeface="Arial"/>
              </a:defRPr>
            </a:pPr>
            <a:r>
              <a:rPr sz="2325" b="0">
                <a:solidFill>
                  <a:srgbClr val="111111"/>
                </a:solidFill>
                <a:latin typeface="Arial"/>
                <a:ea typeface="Arial"/>
                <a:cs typeface="Arial"/>
              </a:rPr>
              <a:t>Turns messy resumes, transcripts, and goals into an evidence-grounded career plan.</a:t>
            </a:r>
          </a:p>
        </p:txBody>
      </p:sp>
      <p:sp>
        <p:nvSpPr>
          <p:cNvPr id="4" name="cover-rule">
            <a:extLst xmlns:a="http://schemas.openxmlformats.org/drawingml/2006/main">
              <a:ext uri="{FF2B5EF4-FFF2-40B4-BE49-F238E27FC236}">
                <a16:creationId xmlns:a16="http://schemas.microsoft.com/office/drawing/2014/main" id="{DF0F808D-CD05-458E-B4CF-0112462B687A}"/>
              </a:ext>
            </a:extLst>
          </p:cNvPr>
          <p:cNvSpPr>
            <a:spLocks xmlns:a="http://schemas.openxmlformats.org/drawingml/2006/main" noGrp="1"/>
          </p:cNvSpPr>
          <p:nvPr/>
        </p:nvSpPr>
        <p:spPr>
          <a:xfrm xmlns:a="http://schemas.openxmlformats.org/drawingml/2006/main">
            <a:off x="390525" y="4171950"/>
            <a:ext cx="4095750" cy="14288"/>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cover-flow">
            <a:extLst xmlns:a="http://schemas.openxmlformats.org/drawingml/2006/main">
              <a:ext uri="{FF2B5EF4-FFF2-40B4-BE49-F238E27FC236}">
                <a16:creationId xmlns:a16="http://schemas.microsoft.com/office/drawing/2014/main" id="{DD6CA552-F61D-4AE9-8F7B-8F946B82F2B2}"/>
              </a:ext>
            </a:extLst>
          </p:cNvPr>
          <p:cNvSpPr>
            <a:spLocks xmlns:a="http://schemas.openxmlformats.org/drawingml/2006/main" noGrp="1"/>
          </p:cNvSpPr>
          <p:nvPr/>
        </p:nvSpPr>
        <p:spPr>
          <a:xfrm xmlns:a="http://schemas.openxmlformats.org/drawingml/2006/main">
            <a:off x="390525" y="4438650"/>
            <a:ext cx="533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75" b="0">
                <a:solidFill>
                  <a:srgbClr val="565D66"/>
                </a:solidFill>
                <a:latin typeface="Arial"/>
                <a:ea typeface="Arial"/>
                <a:cs typeface="Arial"/>
              </a:defRPr>
            </a:pPr>
            <a:r>
              <a:rPr sz="1575" b="0">
                <a:solidFill>
                  <a:srgbClr val="565D66"/>
                </a:solidFill>
                <a:latin typeface="Arial"/>
                <a:ea typeface="Arial"/>
                <a:cs typeface="Arial"/>
              </a:rPr>
              <a:t>evidence  -&gt;  gaps  -&gt;  projects  -&gt;  next actions</a:t>
            </a:r>
          </a:p>
        </p:txBody>
      </p:sp>
      <p:sp>
        <p:nvSpPr>
          <p:cNvPr id="6" name="cover-image-frame">
            <a:extLst xmlns:a="http://schemas.openxmlformats.org/drawingml/2006/main">
              <a:ext uri="{FF2B5EF4-FFF2-40B4-BE49-F238E27FC236}">
                <a16:creationId xmlns:a16="http://schemas.microsoft.com/office/drawing/2014/main" id="{B1934651-5C42-4BEC-AC78-373A472A5179}"/>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oundRect">
            <a:avLst>
              <a:gd name="adj" fmla="val 1375"/>
            </a:avLst>
          </a:prstGeom>
          <a:solidFill xmlns:a="http://schemas.openxmlformats.org/drawingml/2006/main">
            <a:srgbClr val="EAF5FB"/>
          </a:solidFill>
          <a:ln xmlns:a="http://schemas.openxmlformats.org/drawingml/2006/main" w="9525">
            <a:solidFill>
              <a:srgbClr val="B8BCC4"/>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9de2d1491dd4ac2"/>
          <a:srcRect xmlns:a="http://schemas.openxmlformats.org/drawingml/2006/main" l="0" t="16323" r="0" b="16323"/>
          <a:stretch xmlns:a="http://schemas.openxmlformats.org/drawingml/2006/main">
            <a:fillRect l="0" t="0" r="0" b="0"/>
          </a:stretch>
        </p:blipFill>
        <p:spPr>
          <a:xfrm xmlns:a="http://schemas.openxmlformats.org/drawingml/2006/main">
            <a:off x="6267450" y="400050"/>
            <a:ext cx="5543550" cy="5600700"/>
          </a:xfrm>
          <a:prstGeom xmlns:a="http://schemas.openxmlformats.org/drawingml/2006/main" prst="roundRect">
            <a:avLst/>
          </a:prstGeom>
        </p:spPr>
      </p:pic>
      <p:sp>
        <p:nvSpPr>
          <p:cNvPr id="8" name="footer-1">
            <a:extLst xmlns:a="http://schemas.openxmlformats.org/drawingml/2006/main">
              <a:ext uri="{FF2B5EF4-FFF2-40B4-BE49-F238E27FC236}">
                <a16:creationId xmlns:a16="http://schemas.microsoft.com/office/drawing/2014/main" id="{6353F448-6964-49BC-B33C-318E6DF2CF58}"/>
              </a:ext>
            </a:extLst>
          </p:cNvPr>
          <p:cNvSpPr>
            <a:spLocks xmlns:a="http://schemas.openxmlformats.org/drawingml/2006/main" noGrp="1"/>
          </p:cNvSpPr>
          <p:nvPr/>
        </p:nvSpPr>
        <p:spPr>
          <a:xfrm xmlns:a="http://schemas.openxmlformats.org/drawingml/2006/main">
            <a:off x="11277600" y="627697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lstStyle xmlns:a="http://schemas.openxmlformats.org/drawingml/2006/main"/>
          <a:p xmlns:a="http://schemas.openxmlformats.org/drawingml/2006/main">
            <a:pPr algn="r">
              <a:defRPr sz="975" b="0">
                <a:solidFill>
                  <a:srgbClr val="111111"/>
                </a:solidFill>
                <a:latin typeface="Arial"/>
                <a:ea typeface="Arial"/>
                <a:cs typeface="Arial"/>
              </a:defRPr>
            </a:pPr>
            <a:r>
              <a:rPr sz="975" b="0">
                <a:solidFill>
                  <a:srgbClr val="111111"/>
                </a:solidFill>
                <a:latin typeface="Arial"/>
                <a:ea typeface="Arial"/>
                <a:cs typeface="Arial"/>
              </a:rPr>
              <a:t>01</a:t>
            </a:r>
          </a:p>
        </p:txBody>
      </p:sp>
    </p:spTree>
    <p:extLst>
      <p:ext uri="{BB962C8B-B14F-4D97-AF65-F5344CB8AC3E}">
        <p14:creationId xmlns:p14="http://schemas.microsoft.com/office/powerpoint/2010/main" val="1756816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F3705571-F180-4A77-8FF5-A5B863768D60}"/>
              </a:ext>
            </a:extLst>
          </p:cNvPr>
          <p:cNvSpPr>
            <a:spLocks xmlns:a="http://schemas.openxmlformats.org/drawingml/2006/main" noGrp="1"/>
          </p:cNvSpPr>
          <p:nvPr/>
        </p:nvSpPr>
        <p:spPr>
          <a:xfrm xmlns:a="http://schemas.openxmlformats.org/drawingml/2006/main">
            <a:off x="390525" y="342900"/>
            <a:ext cx="114014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3225" b="1">
                <a:solidFill>
                  <a:srgbClr val="111111"/>
                </a:solidFill>
                <a:latin typeface="Arial"/>
                <a:ea typeface="Arial"/>
                <a:cs typeface="Arial"/>
              </a:defRPr>
            </a:pPr>
            <a:r>
              <a:rPr sz="3225" b="1">
                <a:solidFill>
                  <a:srgbClr val="111111"/>
                </a:solidFill>
                <a:latin typeface="Arial"/>
                <a:ea typeface="Arial"/>
                <a:cs typeface="Arial"/>
              </a:rPr>
              <a:t>Career advice is easy to generate. Evidence is harder.</a:t>
            </a:r>
          </a:p>
        </p:txBody>
      </p:sp>
      <p:sp>
        <p:nvSpPr>
          <p:cNvPr id="2" name="lead">
            <a:extLst xmlns:a="http://schemas.openxmlformats.org/drawingml/2006/main">
              <a:ext uri="{FF2B5EF4-FFF2-40B4-BE49-F238E27FC236}">
                <a16:creationId xmlns:a16="http://schemas.microsoft.com/office/drawing/2014/main" id="{49977FF4-05EF-4CB1-9E98-83D1905B976C}"/>
              </a:ext>
            </a:extLst>
          </p:cNvPr>
          <p:cNvSpPr>
            <a:spLocks xmlns:a="http://schemas.openxmlformats.org/drawingml/2006/main" noGrp="1"/>
          </p:cNvSpPr>
          <p:nvPr/>
        </p:nvSpPr>
        <p:spPr>
          <a:xfrm xmlns:a="http://schemas.openxmlformats.org/drawingml/2006/main">
            <a:off x="400050" y="1200150"/>
            <a:ext cx="11049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725" b="0">
                <a:solidFill>
                  <a:srgbClr val="565D66"/>
                </a:solidFill>
                <a:latin typeface="Arial"/>
                <a:ea typeface="Arial"/>
                <a:cs typeface="Arial"/>
              </a:defRPr>
            </a:pPr>
            <a:r>
              <a:rPr sz="1725" b="0">
                <a:solidFill>
                  <a:srgbClr val="565D66"/>
                </a:solidFill>
                <a:latin typeface="Arial"/>
                <a:ea typeface="Arial"/>
                <a:cs typeface="Arial"/>
              </a:rPr>
              <a:t>Most tools stop at generic suggestions. Path Forger keeps the user's facts, the reasoning trail, and the next proof-building steps visible.</a:t>
            </a:r>
          </a:p>
        </p:txBody>
      </p:sp>
      <p:sp>
        <p:nvSpPr>
          <p:cNvPr id="3" name="problem-panel">
            <a:extLst xmlns:a="http://schemas.openxmlformats.org/drawingml/2006/main">
              <a:ext uri="{FF2B5EF4-FFF2-40B4-BE49-F238E27FC236}">
                <a16:creationId xmlns:a16="http://schemas.microsoft.com/office/drawing/2014/main" id="{382D034A-07F4-4B40-BE1A-A4BABEC372E3}"/>
              </a:ext>
            </a:extLst>
          </p:cNvPr>
          <p:cNvSpPr>
            <a:spLocks xmlns:a="http://schemas.openxmlformats.org/drawingml/2006/main" noGrp="1"/>
          </p:cNvSpPr>
          <p:nvPr/>
        </p:nvSpPr>
        <p:spPr>
          <a:xfrm xmlns:a="http://schemas.openxmlformats.org/drawingml/2006/main">
            <a:off x="400050" y="3105150"/>
            <a:ext cx="5534025" cy="1428750"/>
          </a:xfrm>
          <a:prstGeom xmlns:a="http://schemas.openxmlformats.org/drawingml/2006/main" prst="roundRect">
            <a:avLst>
              <a:gd name="adj" fmla="val 5333"/>
            </a:avLst>
          </a:prstGeom>
          <a:solidFill xmlns:a="http://schemas.openxmlformats.org/drawingml/2006/main">
            <a:srgbClr val="F2F2F2"/>
          </a:solidFill>
          <a:ln xmlns:a="http://schemas.openxmlformats.org/drawingml/2006/main" w="9525">
            <a:solidFill>
              <a:srgbClr val="B8BCC4"/>
            </a:solidFill>
            <a:prstDash val="solid"/>
          </a:ln>
        </p:spPr>
      </p:sp>
      <p:sp>
        <p:nvSpPr>
          <p:cNvPr id="4" name="problem-title">
            <a:extLst xmlns:a="http://schemas.openxmlformats.org/drawingml/2006/main">
              <a:ext uri="{FF2B5EF4-FFF2-40B4-BE49-F238E27FC236}">
                <a16:creationId xmlns:a16="http://schemas.microsoft.com/office/drawing/2014/main" id="{5663535E-E5C0-40E1-BB19-16DC2863BFEB}"/>
              </a:ext>
            </a:extLst>
          </p:cNvPr>
          <p:cNvSpPr>
            <a:spLocks xmlns:a="http://schemas.openxmlformats.org/drawingml/2006/main" noGrp="1"/>
          </p:cNvSpPr>
          <p:nvPr/>
        </p:nvSpPr>
        <p:spPr>
          <a:xfrm xmlns:a="http://schemas.openxmlformats.org/drawingml/2006/main">
            <a:off x="695325" y="33718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250" b="1">
                <a:solidFill>
                  <a:srgbClr val="111111"/>
                </a:solidFill>
                <a:latin typeface="Arial"/>
                <a:ea typeface="Arial"/>
                <a:cs typeface="Arial"/>
              </a:defRPr>
            </a:pPr>
            <a:r>
              <a:rPr sz="2250" b="1">
                <a:solidFill>
                  <a:srgbClr val="111111"/>
                </a:solidFill>
                <a:latin typeface="Arial"/>
                <a:ea typeface="Arial"/>
                <a:cs typeface="Arial"/>
              </a:rPr>
              <a:t>The problem</a:t>
            </a:r>
          </a:p>
        </p:txBody>
      </p:sp>
      <p:sp>
        <p:nvSpPr>
          <p:cNvPr id="5" name="problem-body">
            <a:extLst xmlns:a="http://schemas.openxmlformats.org/drawingml/2006/main">
              <a:ext uri="{FF2B5EF4-FFF2-40B4-BE49-F238E27FC236}">
                <a16:creationId xmlns:a16="http://schemas.microsoft.com/office/drawing/2014/main" id="{36B8C447-2BDE-4A99-8E6A-7CE63DBA4F07}"/>
              </a:ext>
            </a:extLst>
          </p:cNvPr>
          <p:cNvSpPr>
            <a:spLocks xmlns:a="http://schemas.openxmlformats.org/drawingml/2006/main" noGrp="1"/>
          </p:cNvSpPr>
          <p:nvPr/>
        </p:nvSpPr>
        <p:spPr>
          <a:xfrm xmlns:a="http://schemas.openxmlformats.org/drawingml/2006/main">
            <a:off x="695325" y="4819650"/>
            <a:ext cx="4953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Scattered background</a:t>
            </a:r>
          </a:p>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Vague career goals</a:t>
            </a:r>
          </a:p>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Advice with no visible proof</a:t>
            </a:r>
          </a:p>
        </p:txBody>
      </p:sp>
      <p:sp>
        <p:nvSpPr>
          <p:cNvPr id="6" name="solution-panel">
            <a:extLst xmlns:a="http://schemas.openxmlformats.org/drawingml/2006/main">
              <a:ext uri="{FF2B5EF4-FFF2-40B4-BE49-F238E27FC236}">
                <a16:creationId xmlns:a16="http://schemas.microsoft.com/office/drawing/2014/main" id="{E49036AF-5436-41B7-B838-1625E841244E}"/>
              </a:ext>
            </a:extLst>
          </p:cNvPr>
          <p:cNvSpPr>
            <a:spLocks xmlns:a="http://schemas.openxmlformats.org/drawingml/2006/main" noGrp="1"/>
          </p:cNvSpPr>
          <p:nvPr/>
        </p:nvSpPr>
        <p:spPr>
          <a:xfrm xmlns:a="http://schemas.openxmlformats.org/drawingml/2006/main">
            <a:off x="6257925" y="3105150"/>
            <a:ext cx="5534025" cy="1428750"/>
          </a:xfrm>
          <a:prstGeom xmlns:a="http://schemas.openxmlformats.org/drawingml/2006/main" prst="roundRect">
            <a:avLst>
              <a:gd name="adj" fmla="val 5333"/>
            </a:avLst>
          </a:prstGeom>
          <a:solidFill xmlns:a="http://schemas.openxmlformats.org/drawingml/2006/main">
            <a:srgbClr val="E9F7F4"/>
          </a:solidFill>
          <a:ln xmlns:a="http://schemas.openxmlformats.org/drawingml/2006/main" w="9525">
            <a:solidFill>
              <a:srgbClr val="C8EBE3"/>
            </a:solidFill>
            <a:prstDash val="solid"/>
          </a:ln>
        </p:spPr>
      </p:sp>
      <p:sp>
        <p:nvSpPr>
          <p:cNvPr id="7" name="solution-title">
            <a:extLst xmlns:a="http://schemas.openxmlformats.org/drawingml/2006/main">
              <a:ext uri="{FF2B5EF4-FFF2-40B4-BE49-F238E27FC236}">
                <a16:creationId xmlns:a16="http://schemas.microsoft.com/office/drawing/2014/main" id="{305C5022-3872-4995-8F73-B3E64A58D7CB}"/>
              </a:ext>
            </a:extLst>
          </p:cNvPr>
          <p:cNvSpPr>
            <a:spLocks xmlns:a="http://schemas.openxmlformats.org/drawingml/2006/main" noGrp="1"/>
          </p:cNvSpPr>
          <p:nvPr/>
        </p:nvSpPr>
        <p:spPr>
          <a:xfrm xmlns:a="http://schemas.openxmlformats.org/drawingml/2006/main">
            <a:off x="6553200" y="33718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250" b="1">
                <a:solidFill>
                  <a:srgbClr val="0F766E"/>
                </a:solidFill>
                <a:latin typeface="Arial"/>
                <a:ea typeface="Arial"/>
                <a:cs typeface="Arial"/>
              </a:defRPr>
            </a:pPr>
            <a:r>
              <a:rPr sz="2250" b="1">
                <a:solidFill>
                  <a:srgbClr val="0F766E"/>
                </a:solidFill>
                <a:latin typeface="Arial"/>
                <a:ea typeface="Arial"/>
                <a:cs typeface="Arial"/>
              </a:rPr>
              <a:t>The product</a:t>
            </a:r>
          </a:p>
        </p:txBody>
      </p:sp>
      <p:sp>
        <p:nvSpPr>
          <p:cNvPr id="8" name="solution-body">
            <a:extLst xmlns:a="http://schemas.openxmlformats.org/drawingml/2006/main">
              <a:ext uri="{FF2B5EF4-FFF2-40B4-BE49-F238E27FC236}">
                <a16:creationId xmlns:a16="http://schemas.microsoft.com/office/drawing/2014/main" id="{CE7B6F13-FBA9-4508-9004-72B94E54149A}"/>
              </a:ext>
            </a:extLst>
          </p:cNvPr>
          <p:cNvSpPr>
            <a:spLocks xmlns:a="http://schemas.openxmlformats.org/drawingml/2006/main" noGrp="1"/>
          </p:cNvSpPr>
          <p:nvPr/>
        </p:nvSpPr>
        <p:spPr>
          <a:xfrm xmlns:a="http://schemas.openxmlformats.org/drawingml/2006/main">
            <a:off x="6553200" y="4819650"/>
            <a:ext cx="4953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Inspectable profile</a:t>
            </a:r>
          </a:p>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Ranked skill gaps</a:t>
            </a:r>
          </a:p>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Projects, actions, evidence, and warnings</a:t>
            </a:r>
          </a:p>
        </p:txBody>
      </p:sp>
      <p:sp>
        <p:nvSpPr>
          <p:cNvPr id="9" name="footer-2">
            <a:extLst xmlns:a="http://schemas.openxmlformats.org/drawingml/2006/main">
              <a:ext uri="{FF2B5EF4-FFF2-40B4-BE49-F238E27FC236}">
                <a16:creationId xmlns:a16="http://schemas.microsoft.com/office/drawing/2014/main" id="{DDAA7D8F-4DAD-478A-BE10-4D67294AF448}"/>
              </a:ext>
            </a:extLst>
          </p:cNvPr>
          <p:cNvSpPr>
            <a:spLocks xmlns:a="http://schemas.openxmlformats.org/drawingml/2006/main" noGrp="1"/>
          </p:cNvSpPr>
          <p:nvPr/>
        </p:nvSpPr>
        <p:spPr>
          <a:xfrm xmlns:a="http://schemas.openxmlformats.org/drawingml/2006/main">
            <a:off x="11277600" y="627697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lstStyle xmlns:a="http://schemas.openxmlformats.org/drawingml/2006/main"/>
          <a:p xmlns:a="http://schemas.openxmlformats.org/drawingml/2006/main">
            <a:pPr algn="r">
              <a:defRPr sz="975" b="0">
                <a:solidFill>
                  <a:srgbClr val="111111"/>
                </a:solidFill>
                <a:latin typeface="Arial"/>
                <a:ea typeface="Arial"/>
                <a:cs typeface="Arial"/>
              </a:defRPr>
            </a:pPr>
            <a:r>
              <a:rPr sz="975" b="0">
                <a:solidFill>
                  <a:srgbClr val="111111"/>
                </a:solidFill>
                <a:latin typeface="Arial"/>
                <a:ea typeface="Arial"/>
                <a:cs typeface="Arial"/>
              </a:rPr>
              <a:t>02</a:t>
            </a:r>
          </a:p>
        </p:txBody>
      </p:sp>
    </p:spTree>
    <p:extLst>
      <p:ext uri="{BB962C8B-B14F-4D97-AF65-F5344CB8AC3E}">
        <p14:creationId xmlns:p14="http://schemas.microsoft.com/office/powerpoint/2010/main" val="17981630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88BF7D0A-DFB6-4817-B997-ABD8E932DA5A}"/>
              </a:ext>
            </a:extLst>
          </p:cNvPr>
          <p:cNvSpPr>
            <a:spLocks xmlns:a="http://schemas.openxmlformats.org/drawingml/2006/main" noGrp="1"/>
          </p:cNvSpPr>
          <p:nvPr/>
        </p:nvSpPr>
        <p:spPr>
          <a:xfrm xmlns:a="http://schemas.openxmlformats.org/drawingml/2006/main">
            <a:off x="390525" y="342900"/>
            <a:ext cx="114014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The live demo follows one user from background to an inspectable plan.</a:t>
            </a:r>
          </a:p>
        </p:txBody>
      </p:sp>
      <p:sp>
        <p:nvSpPr>
          <p:cNvPr id="2" name="demo-frame-0">
            <a:extLst xmlns:a="http://schemas.openxmlformats.org/drawingml/2006/main">
              <a:ext uri="{FF2B5EF4-FFF2-40B4-BE49-F238E27FC236}">
                <a16:creationId xmlns:a16="http://schemas.microsoft.com/office/drawing/2014/main" id="{F3ABAB53-DF2D-4397-B959-81CB8CBB7007}"/>
              </a:ext>
            </a:extLst>
          </p:cNvPr>
          <p:cNvSpPr>
            <a:spLocks xmlns:a="http://schemas.openxmlformats.org/drawingml/2006/main" noGrp="1"/>
          </p:cNvSpPr>
          <p:nvPr/>
        </p:nvSpPr>
        <p:spPr>
          <a:xfrm xmlns:a="http://schemas.openxmlformats.org/drawingml/2006/main">
            <a:off x="390525" y="1495425"/>
            <a:ext cx="3571875" cy="2152650"/>
          </a:xfrm>
          <a:prstGeom xmlns:a="http://schemas.openxmlformats.org/drawingml/2006/main" prst="roundRect">
            <a:avLst>
              <a:gd name="adj" fmla="val 3540"/>
            </a:avLst>
          </a:prstGeom>
          <a:solidFill xmlns:a="http://schemas.openxmlformats.org/drawingml/2006/main">
            <a:srgbClr val="F2F2F2"/>
          </a:solidFill>
          <a:ln xmlns:a="http://schemas.openxmlformats.org/drawingml/2006/main" w="9525">
            <a:solidFill>
              <a:srgbClr val="B8BCC4"/>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6e247788f92459b"/>
          <a:srcRect xmlns:a="http://schemas.openxmlformats.org/drawingml/2006/main" l="1769" t="0" r="1769" b="0"/>
          <a:stretch xmlns:a="http://schemas.openxmlformats.org/drawingml/2006/main">
            <a:fillRect l="0" t="0" r="0" b="0"/>
          </a:stretch>
        </p:blipFill>
        <p:spPr>
          <a:xfrm xmlns:a="http://schemas.openxmlformats.org/drawingml/2006/main">
            <a:off x="466725" y="1571625"/>
            <a:ext cx="3419475" cy="2000250"/>
          </a:xfrm>
          <a:prstGeom xmlns:a="http://schemas.openxmlformats.org/drawingml/2006/main" prst="roundRect">
            <a:avLst/>
          </a:prstGeom>
        </p:spPr>
      </p:pic>
      <p:sp>
        <p:nvSpPr>
          <p:cNvPr id="4" name="demo-label-0">
            <a:extLst xmlns:a="http://schemas.openxmlformats.org/drawingml/2006/main">
              <a:ext uri="{FF2B5EF4-FFF2-40B4-BE49-F238E27FC236}">
                <a16:creationId xmlns:a16="http://schemas.microsoft.com/office/drawing/2014/main" id="{0F0C7B50-5CEE-48A6-867A-FAB31955B66D}"/>
              </a:ext>
            </a:extLst>
          </p:cNvPr>
          <p:cNvSpPr>
            <a:spLocks xmlns:a="http://schemas.openxmlformats.org/drawingml/2006/main" noGrp="1"/>
          </p:cNvSpPr>
          <p:nvPr/>
        </p:nvSpPr>
        <p:spPr>
          <a:xfrm xmlns:a="http://schemas.openxmlformats.org/drawingml/2006/main">
            <a:off x="390525" y="38957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275" b="1">
                <a:solidFill>
                  <a:srgbClr val="0F766E"/>
                </a:solidFill>
                <a:latin typeface="Arial"/>
                <a:ea typeface="Arial"/>
                <a:cs typeface="Arial"/>
              </a:defRPr>
            </a:pPr>
            <a:r>
              <a:rPr sz="1275" b="1">
                <a:solidFill>
                  <a:srgbClr val="0F766E"/>
                </a:solidFill>
                <a:latin typeface="Arial"/>
                <a:ea typeface="Arial"/>
                <a:cs typeface="Arial"/>
              </a:rPr>
              <a:t>BACKGROUND</a:t>
            </a:r>
          </a:p>
        </p:txBody>
      </p:sp>
      <p:sp>
        <p:nvSpPr>
          <p:cNvPr id="5" name="demo-title-0">
            <a:extLst xmlns:a="http://schemas.openxmlformats.org/drawingml/2006/main">
              <a:ext uri="{FF2B5EF4-FFF2-40B4-BE49-F238E27FC236}">
                <a16:creationId xmlns:a16="http://schemas.microsoft.com/office/drawing/2014/main" id="{52B30859-84F3-4603-B36E-E6438C54E887}"/>
              </a:ext>
            </a:extLst>
          </p:cNvPr>
          <p:cNvSpPr>
            <a:spLocks xmlns:a="http://schemas.openxmlformats.org/drawingml/2006/main" noGrp="1"/>
          </p:cNvSpPr>
          <p:nvPr/>
        </p:nvSpPr>
        <p:spPr>
          <a:xfrm xmlns:a="http://schemas.openxmlformats.org/drawingml/2006/main">
            <a:off x="390525" y="4267200"/>
            <a:ext cx="3571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1. Add evidence</a:t>
            </a:r>
          </a:p>
        </p:txBody>
      </p:sp>
      <p:sp>
        <p:nvSpPr>
          <p:cNvPr id="6" name="demo-body-0">
            <a:extLst xmlns:a="http://schemas.openxmlformats.org/drawingml/2006/main">
              <a:ext uri="{FF2B5EF4-FFF2-40B4-BE49-F238E27FC236}">
                <a16:creationId xmlns:a16="http://schemas.microsoft.com/office/drawing/2014/main" id="{8BD070B0-D0DA-404E-A4D0-CBD02862A332}"/>
              </a:ext>
            </a:extLst>
          </p:cNvPr>
          <p:cNvSpPr>
            <a:spLocks xmlns:a="http://schemas.openxmlformats.org/drawingml/2006/main" noGrp="1"/>
          </p:cNvSpPr>
          <p:nvPr/>
        </p:nvSpPr>
        <p:spPr>
          <a:xfrm xmlns:a="http://schemas.openxmlformats.org/drawingml/2006/main">
            <a:off x="390525" y="4867275"/>
            <a:ext cx="35718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350" b="0">
                <a:solidFill>
                  <a:srgbClr val="565D66"/>
                </a:solidFill>
                <a:latin typeface="Arial"/>
                <a:ea typeface="Arial"/>
                <a:cs typeface="Arial"/>
              </a:defRPr>
            </a:pPr>
            <a:r>
              <a:rPr sz="1350" b="0">
                <a:solidFill>
                  <a:srgbClr val="565D66"/>
                </a:solidFill>
                <a:latin typeface="Arial"/>
                <a:ea typeface="Arial"/>
                <a:cs typeface="Arial"/>
              </a:rPr>
              <a:t>Upload or guided context becomes a readable background prompt.</a:t>
            </a:r>
          </a:p>
        </p:txBody>
      </p:sp>
      <p:sp>
        <p:nvSpPr>
          <p:cNvPr id="7" name="demo-frame-1">
            <a:extLst xmlns:a="http://schemas.openxmlformats.org/drawingml/2006/main">
              <a:ext uri="{FF2B5EF4-FFF2-40B4-BE49-F238E27FC236}">
                <a16:creationId xmlns:a16="http://schemas.microsoft.com/office/drawing/2014/main" id="{E29F89E1-104C-42D6-B4D0-AFFDCEA2A2AA}"/>
              </a:ext>
            </a:extLst>
          </p:cNvPr>
          <p:cNvSpPr>
            <a:spLocks xmlns:a="http://schemas.openxmlformats.org/drawingml/2006/main" noGrp="1"/>
          </p:cNvSpPr>
          <p:nvPr/>
        </p:nvSpPr>
        <p:spPr>
          <a:xfrm xmlns:a="http://schemas.openxmlformats.org/drawingml/2006/main">
            <a:off x="4305300" y="1495425"/>
            <a:ext cx="3571875" cy="2152650"/>
          </a:xfrm>
          <a:prstGeom xmlns:a="http://schemas.openxmlformats.org/drawingml/2006/main" prst="roundRect">
            <a:avLst>
              <a:gd name="adj" fmla="val 3540"/>
            </a:avLst>
          </a:prstGeom>
          <a:solidFill xmlns:a="http://schemas.openxmlformats.org/drawingml/2006/main">
            <a:srgbClr val="F2F2F2"/>
          </a:solidFill>
          <a:ln xmlns:a="http://schemas.openxmlformats.org/drawingml/2006/main" w="9525">
            <a:solidFill>
              <a:srgbClr val="B8BCC4"/>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f1520c6200e9417b"/>
          <a:srcRect xmlns:a="http://schemas.openxmlformats.org/drawingml/2006/main" l="6984" t="0" r="6984" b="0"/>
          <a:stretch xmlns:a="http://schemas.openxmlformats.org/drawingml/2006/main">
            <a:fillRect l="0" t="0" r="0" b="0"/>
          </a:stretch>
        </p:blipFill>
        <p:spPr>
          <a:xfrm xmlns:a="http://schemas.openxmlformats.org/drawingml/2006/main">
            <a:off x="4381500" y="1571625"/>
            <a:ext cx="3419475" cy="2000250"/>
          </a:xfrm>
          <a:prstGeom xmlns:a="http://schemas.openxmlformats.org/drawingml/2006/main" prst="roundRect">
            <a:avLst/>
          </a:prstGeom>
        </p:spPr>
      </p:pic>
      <p:sp>
        <p:nvSpPr>
          <p:cNvPr id="9" name="demo-label-1">
            <a:extLst xmlns:a="http://schemas.openxmlformats.org/drawingml/2006/main">
              <a:ext uri="{FF2B5EF4-FFF2-40B4-BE49-F238E27FC236}">
                <a16:creationId xmlns:a16="http://schemas.microsoft.com/office/drawing/2014/main" id="{45E0A71A-955E-496A-A73D-B855F3FBA6FB}"/>
              </a:ext>
            </a:extLst>
          </p:cNvPr>
          <p:cNvSpPr>
            <a:spLocks xmlns:a="http://schemas.openxmlformats.org/drawingml/2006/main" noGrp="1"/>
          </p:cNvSpPr>
          <p:nvPr/>
        </p:nvSpPr>
        <p:spPr>
          <a:xfrm xmlns:a="http://schemas.openxmlformats.org/drawingml/2006/main">
            <a:off x="4305300" y="38957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275" b="1">
                <a:solidFill>
                  <a:srgbClr val="0F766E"/>
                </a:solidFill>
                <a:latin typeface="Arial"/>
                <a:ea typeface="Arial"/>
                <a:cs typeface="Arial"/>
              </a:defRPr>
            </a:pPr>
            <a:r>
              <a:rPr sz="1275" b="1">
                <a:solidFill>
                  <a:srgbClr val="0F766E"/>
                </a:solidFill>
                <a:latin typeface="Arial"/>
                <a:ea typeface="Arial"/>
                <a:cs typeface="Arial"/>
              </a:rPr>
              <a:t>PROFILE</a:t>
            </a:r>
          </a:p>
        </p:txBody>
      </p:sp>
      <p:sp>
        <p:nvSpPr>
          <p:cNvPr id="10" name="demo-title-1">
            <a:extLst xmlns:a="http://schemas.openxmlformats.org/drawingml/2006/main">
              <a:ext uri="{FF2B5EF4-FFF2-40B4-BE49-F238E27FC236}">
                <a16:creationId xmlns:a16="http://schemas.microsoft.com/office/drawing/2014/main" id="{49749E2A-B8ED-4CB0-B11D-7BBBEA309B59}"/>
              </a:ext>
            </a:extLst>
          </p:cNvPr>
          <p:cNvSpPr>
            <a:spLocks xmlns:a="http://schemas.openxmlformats.org/drawingml/2006/main" noGrp="1"/>
          </p:cNvSpPr>
          <p:nvPr/>
        </p:nvSpPr>
        <p:spPr>
          <a:xfrm xmlns:a="http://schemas.openxmlformats.org/drawingml/2006/main">
            <a:off x="4305300" y="4267200"/>
            <a:ext cx="3571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2. Review facts</a:t>
            </a:r>
          </a:p>
        </p:txBody>
      </p:sp>
      <p:sp>
        <p:nvSpPr>
          <p:cNvPr id="11" name="demo-body-1">
            <a:extLst xmlns:a="http://schemas.openxmlformats.org/drawingml/2006/main">
              <a:ext uri="{FF2B5EF4-FFF2-40B4-BE49-F238E27FC236}">
                <a16:creationId xmlns:a16="http://schemas.microsoft.com/office/drawing/2014/main" id="{C6F6F75C-ABD7-4FD9-9E13-4D34F5292B5D}"/>
              </a:ext>
            </a:extLst>
          </p:cNvPr>
          <p:cNvSpPr>
            <a:spLocks xmlns:a="http://schemas.openxmlformats.org/drawingml/2006/main" noGrp="1"/>
          </p:cNvSpPr>
          <p:nvPr/>
        </p:nvSpPr>
        <p:spPr>
          <a:xfrm xmlns:a="http://schemas.openxmlformats.org/drawingml/2006/main">
            <a:off x="4305300" y="4867275"/>
            <a:ext cx="35718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350" b="0">
                <a:solidFill>
                  <a:srgbClr val="565D66"/>
                </a:solidFill>
                <a:latin typeface="Arial"/>
                <a:ea typeface="Arial"/>
                <a:cs typeface="Arial"/>
              </a:defRPr>
            </a:pPr>
            <a:r>
              <a:rPr sz="1350" b="0">
                <a:solidFill>
                  <a:srgbClr val="565D66"/>
                </a:solidFill>
                <a:latin typeface="Arial"/>
                <a:ea typeface="Arial"/>
                <a:cs typeface="Arial"/>
              </a:rPr>
              <a:t>The extracted JSON stays editable before the plan is generated.</a:t>
            </a:r>
          </a:p>
        </p:txBody>
      </p:sp>
      <p:sp>
        <p:nvSpPr>
          <p:cNvPr id="12" name="demo-frame-2">
            <a:extLst xmlns:a="http://schemas.openxmlformats.org/drawingml/2006/main">
              <a:ext uri="{FF2B5EF4-FFF2-40B4-BE49-F238E27FC236}">
                <a16:creationId xmlns:a16="http://schemas.microsoft.com/office/drawing/2014/main" id="{E2CECD08-9530-45FE-9097-C4B8FF572122}"/>
              </a:ext>
            </a:extLst>
          </p:cNvPr>
          <p:cNvSpPr>
            <a:spLocks xmlns:a="http://schemas.openxmlformats.org/drawingml/2006/main" noGrp="1"/>
          </p:cNvSpPr>
          <p:nvPr/>
        </p:nvSpPr>
        <p:spPr>
          <a:xfrm xmlns:a="http://schemas.openxmlformats.org/drawingml/2006/main">
            <a:off x="8239125" y="1495425"/>
            <a:ext cx="3571875" cy="2152650"/>
          </a:xfrm>
          <a:prstGeom xmlns:a="http://schemas.openxmlformats.org/drawingml/2006/main" prst="roundRect">
            <a:avLst>
              <a:gd name="adj" fmla="val 3540"/>
            </a:avLst>
          </a:prstGeom>
          <a:solidFill xmlns:a="http://schemas.openxmlformats.org/drawingml/2006/main">
            <a:srgbClr val="EAF5FB"/>
          </a:solidFill>
          <a:ln xmlns:a="http://schemas.openxmlformats.org/drawingml/2006/main" w="9525">
            <a:solidFill>
              <a:srgbClr val="B8BCC4"/>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e6dc16f1009405f"/>
          <a:srcRect xmlns:a="http://schemas.openxmlformats.org/drawingml/2006/main" l="399" t="0" r="399" b="0"/>
          <a:stretch xmlns:a="http://schemas.openxmlformats.org/drawingml/2006/main">
            <a:fillRect l="0" t="0" r="0" b="0"/>
          </a:stretch>
        </p:blipFill>
        <p:spPr>
          <a:xfrm xmlns:a="http://schemas.openxmlformats.org/drawingml/2006/main">
            <a:off x="8315325" y="1571625"/>
            <a:ext cx="3419475" cy="2000250"/>
          </a:xfrm>
          <a:prstGeom xmlns:a="http://schemas.openxmlformats.org/drawingml/2006/main" prst="roundRect">
            <a:avLst/>
          </a:prstGeom>
        </p:spPr>
      </p:pic>
      <p:sp>
        <p:nvSpPr>
          <p:cNvPr id="14" name="demo-label-2">
            <a:extLst xmlns:a="http://schemas.openxmlformats.org/drawingml/2006/main">
              <a:ext uri="{FF2B5EF4-FFF2-40B4-BE49-F238E27FC236}">
                <a16:creationId xmlns:a16="http://schemas.microsoft.com/office/drawing/2014/main" id="{B3B14B12-1AD2-4A0C-8B09-4BA6B7F08C4B}"/>
              </a:ext>
            </a:extLst>
          </p:cNvPr>
          <p:cNvSpPr>
            <a:spLocks xmlns:a="http://schemas.openxmlformats.org/drawingml/2006/main" noGrp="1"/>
          </p:cNvSpPr>
          <p:nvPr/>
        </p:nvSpPr>
        <p:spPr>
          <a:xfrm xmlns:a="http://schemas.openxmlformats.org/drawingml/2006/main">
            <a:off x="8239125" y="38957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RESULTS</a:t>
            </a:r>
          </a:p>
        </p:txBody>
      </p:sp>
      <p:sp>
        <p:nvSpPr>
          <p:cNvPr id="15" name="demo-title-2">
            <a:extLst xmlns:a="http://schemas.openxmlformats.org/drawingml/2006/main">
              <a:ext uri="{FF2B5EF4-FFF2-40B4-BE49-F238E27FC236}">
                <a16:creationId xmlns:a16="http://schemas.microsoft.com/office/drawing/2014/main" id="{08A227D6-37F1-4785-970F-F894F80DF3DE}"/>
              </a:ext>
            </a:extLst>
          </p:cNvPr>
          <p:cNvSpPr>
            <a:spLocks xmlns:a="http://schemas.openxmlformats.org/drawingml/2006/main" noGrp="1"/>
          </p:cNvSpPr>
          <p:nvPr/>
        </p:nvSpPr>
        <p:spPr>
          <a:xfrm xmlns:a="http://schemas.openxmlformats.org/drawingml/2006/main">
            <a:off x="8239125" y="4267200"/>
            <a:ext cx="35718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3. Inspect the plan</a:t>
            </a:r>
          </a:p>
        </p:txBody>
      </p:sp>
      <p:sp>
        <p:nvSpPr>
          <p:cNvPr id="16" name="demo-body-2">
            <a:extLst xmlns:a="http://schemas.openxmlformats.org/drawingml/2006/main">
              <a:ext uri="{FF2B5EF4-FFF2-40B4-BE49-F238E27FC236}">
                <a16:creationId xmlns:a16="http://schemas.microsoft.com/office/drawing/2014/main" id="{0D268AF9-4408-4271-9F03-77822D5DA9B3}"/>
              </a:ext>
            </a:extLst>
          </p:cNvPr>
          <p:cNvSpPr>
            <a:spLocks xmlns:a="http://schemas.openxmlformats.org/drawingml/2006/main" noGrp="1"/>
          </p:cNvSpPr>
          <p:nvPr/>
        </p:nvSpPr>
        <p:spPr>
          <a:xfrm xmlns:a="http://schemas.openxmlformats.org/drawingml/2006/main">
            <a:off x="8239125" y="4867275"/>
            <a:ext cx="35718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350" b="0">
                <a:solidFill>
                  <a:srgbClr val="565D66"/>
                </a:solidFill>
                <a:latin typeface="Arial"/>
                <a:ea typeface="Arial"/>
                <a:cs typeface="Arial"/>
              </a:defRPr>
            </a:pPr>
            <a:r>
              <a:rPr sz="1350" b="0">
                <a:solidFill>
                  <a:srgbClr val="565D66"/>
                </a:solidFill>
                <a:latin typeface="Arial"/>
                <a:ea typeface="Arial"/>
                <a:cs typeface="Arial"/>
              </a:rPr>
              <a:t>Results connect requirements, recommended paths, evidence, and trace.</a:t>
            </a:r>
          </a:p>
        </p:txBody>
      </p:sp>
      <p:sp>
        <p:nvSpPr>
          <p:cNvPr id="17" name="footer-3">
            <a:extLst xmlns:a="http://schemas.openxmlformats.org/drawingml/2006/main">
              <a:ext uri="{FF2B5EF4-FFF2-40B4-BE49-F238E27FC236}">
                <a16:creationId xmlns:a16="http://schemas.microsoft.com/office/drawing/2014/main" id="{779415D2-7267-4655-954E-C3C4D0A7D175}"/>
              </a:ext>
            </a:extLst>
          </p:cNvPr>
          <p:cNvSpPr>
            <a:spLocks xmlns:a="http://schemas.openxmlformats.org/drawingml/2006/main" noGrp="1"/>
          </p:cNvSpPr>
          <p:nvPr/>
        </p:nvSpPr>
        <p:spPr>
          <a:xfrm xmlns:a="http://schemas.openxmlformats.org/drawingml/2006/main">
            <a:off x="11277600" y="627697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lstStyle xmlns:a="http://schemas.openxmlformats.org/drawingml/2006/main"/>
          <a:p xmlns:a="http://schemas.openxmlformats.org/drawingml/2006/main">
            <a:pPr algn="r">
              <a:defRPr sz="975" b="0">
                <a:solidFill>
                  <a:srgbClr val="111111"/>
                </a:solidFill>
                <a:latin typeface="Arial"/>
                <a:ea typeface="Arial"/>
                <a:cs typeface="Arial"/>
              </a:defRPr>
            </a:pPr>
            <a:r>
              <a:rPr sz="975" b="0">
                <a:solidFill>
                  <a:srgbClr val="111111"/>
                </a:solidFill>
                <a:latin typeface="Arial"/>
                <a:ea typeface="Arial"/>
                <a:cs typeface="Arial"/>
              </a:rPr>
              <a:t>03</a:t>
            </a:r>
          </a:p>
        </p:txBody>
      </p:sp>
    </p:spTree>
    <p:extLst>
      <p:ext uri="{BB962C8B-B14F-4D97-AF65-F5344CB8AC3E}">
        <p14:creationId xmlns:p14="http://schemas.microsoft.com/office/powerpoint/2010/main" val="6367233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lose-kicker">
            <a:extLst xmlns:a="http://schemas.openxmlformats.org/drawingml/2006/main">
              <a:ext uri="{FF2B5EF4-FFF2-40B4-BE49-F238E27FC236}">
                <a16:creationId xmlns:a16="http://schemas.microsoft.com/office/drawing/2014/main" id="{67EC28EE-F11F-45FE-BFA9-AC0835F959EF}"/>
              </a:ext>
            </a:extLst>
          </p:cNvPr>
          <p:cNvSpPr>
            <a:spLocks xmlns:a="http://schemas.openxmlformats.org/drawingml/2006/main" noGrp="1"/>
          </p:cNvSpPr>
          <p:nvPr/>
        </p:nvSpPr>
        <p:spPr>
          <a:xfrm xmlns:a="http://schemas.openxmlformats.org/drawingml/2006/main">
            <a:off x="390525" y="4000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800" b="1">
                <a:solidFill>
                  <a:srgbClr val="0F766E"/>
                </a:solidFill>
                <a:latin typeface="Arial"/>
                <a:ea typeface="Arial"/>
                <a:cs typeface="Arial"/>
              </a:defRPr>
            </a:pPr>
            <a:r>
              <a:rPr sz="1800" b="1">
                <a:solidFill>
                  <a:srgbClr val="0F766E"/>
                </a:solidFill>
                <a:latin typeface="Arial"/>
                <a:ea typeface="Arial"/>
                <a:cs typeface="Arial"/>
              </a:rPr>
              <a:t>QUESTIONS</a:t>
            </a:r>
          </a:p>
        </p:txBody>
      </p:sp>
      <p:sp>
        <p:nvSpPr>
          <p:cNvPr id="2" name="close-thesis">
            <a:extLst xmlns:a="http://schemas.openxmlformats.org/drawingml/2006/main">
              <a:ext uri="{FF2B5EF4-FFF2-40B4-BE49-F238E27FC236}">
                <a16:creationId xmlns:a16="http://schemas.microsoft.com/office/drawing/2014/main" id="{11C8DBDE-5980-4881-8C2E-7BA71927EF3F}"/>
              </a:ext>
            </a:extLst>
          </p:cNvPr>
          <p:cNvSpPr>
            <a:spLocks xmlns:a="http://schemas.openxmlformats.org/drawingml/2006/main" noGrp="1"/>
          </p:cNvSpPr>
          <p:nvPr/>
        </p:nvSpPr>
        <p:spPr>
          <a:xfrm xmlns:a="http://schemas.openxmlformats.org/drawingml/2006/main">
            <a:off x="390525" y="1695450"/>
            <a:ext cx="10001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lstStyle xmlns:a="http://schemas.openxmlformats.org/drawingml/2006/main"/>
          <a:p xmlns:a="http://schemas.openxmlformats.org/drawingml/2006/main">
            <a:pPr algn="l">
              <a:defRPr sz="5100" b="1">
                <a:solidFill>
                  <a:srgbClr val="111111"/>
                </a:solidFill>
                <a:latin typeface="Arial"/>
                <a:ea typeface="Arial"/>
                <a:cs typeface="Arial"/>
              </a:defRPr>
            </a:pPr>
            <a:r>
              <a:rPr sz="5100" b="1">
                <a:solidFill>
                  <a:srgbClr val="111111"/>
                </a:solidFill>
                <a:latin typeface="Arial"/>
                <a:ea typeface="Arial"/>
                <a:cs typeface="Arial"/>
              </a:rPr>
              <a:t>A career plan should show its evidence, not just its advice.</a:t>
            </a:r>
          </a:p>
        </p:txBody>
      </p:sp>
      <p:sp>
        <p:nvSpPr>
          <p:cNvPr id="3" name="close-steps">
            <a:extLst xmlns:a="http://schemas.openxmlformats.org/drawingml/2006/main">
              <a:ext uri="{FF2B5EF4-FFF2-40B4-BE49-F238E27FC236}">
                <a16:creationId xmlns:a16="http://schemas.microsoft.com/office/drawing/2014/main" id="{C3F6BBCA-2381-4855-A86F-2EDCFB200FBB}"/>
              </a:ext>
            </a:extLst>
          </p:cNvPr>
          <p:cNvSpPr>
            <a:spLocks xmlns:a="http://schemas.openxmlformats.org/drawingml/2006/main" noGrp="1"/>
          </p:cNvSpPr>
          <p:nvPr/>
        </p:nvSpPr>
        <p:spPr>
          <a:xfrm xmlns:a="http://schemas.openxmlformats.org/drawingml/2006/main">
            <a:off x="390525" y="4953000"/>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100" b="0">
                <a:solidFill>
                  <a:srgbClr val="565D66"/>
                </a:solidFill>
                <a:latin typeface="Arial"/>
                <a:ea typeface="Arial"/>
                <a:cs typeface="Arial"/>
              </a:defRPr>
            </a:pPr>
            <a:r>
              <a:rPr sz="2100" b="0">
                <a:solidFill>
                  <a:srgbClr val="565D66"/>
                </a:solidFill>
                <a:latin typeface="Arial"/>
                <a:ea typeface="Arial"/>
                <a:cs typeface="Arial"/>
              </a:rPr>
              <a:t>Upload.  Extract.  Choose.  Verify.</a:t>
            </a:r>
          </a:p>
        </p:txBody>
      </p:sp>
      <p:sp>
        <p:nvSpPr>
          <p:cNvPr id="4" name="close-brand">
            <a:extLst xmlns:a="http://schemas.openxmlformats.org/drawingml/2006/main">
              <a:ext uri="{FF2B5EF4-FFF2-40B4-BE49-F238E27FC236}">
                <a16:creationId xmlns:a16="http://schemas.microsoft.com/office/drawing/2014/main" id="{C30D6B65-3A7A-4A80-9B6B-3A415C5B276B}"/>
              </a:ext>
            </a:extLst>
          </p:cNvPr>
          <p:cNvSpPr>
            <a:spLocks xmlns:a="http://schemas.openxmlformats.org/drawingml/2006/main" noGrp="1"/>
          </p:cNvSpPr>
          <p:nvPr/>
        </p:nvSpPr>
        <p:spPr>
          <a:xfrm xmlns:a="http://schemas.openxmlformats.org/drawingml/2006/main">
            <a:off x="8001000" y="5000625"/>
            <a:ext cx="3790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r">
              <a:defRPr sz="2250" b="1">
                <a:solidFill>
                  <a:srgbClr val="111111"/>
                </a:solidFill>
                <a:latin typeface="Arial"/>
                <a:ea typeface="Arial"/>
                <a:cs typeface="Arial"/>
              </a:defRPr>
            </a:pPr>
            <a:r>
              <a:rPr sz="2250" b="1">
                <a:solidFill>
                  <a:srgbClr val="111111"/>
                </a:solidFill>
                <a:latin typeface="Arial"/>
                <a:ea typeface="Arial"/>
                <a:cs typeface="Arial"/>
              </a:rPr>
              <a:t>Path Forger</a:t>
            </a:r>
          </a:p>
        </p:txBody>
      </p:sp>
      <p:sp>
        <p:nvSpPr>
          <p:cNvPr id="5" name="footer-4">
            <a:extLst xmlns:a="http://schemas.openxmlformats.org/drawingml/2006/main">
              <a:ext uri="{FF2B5EF4-FFF2-40B4-BE49-F238E27FC236}">
                <a16:creationId xmlns:a16="http://schemas.microsoft.com/office/drawing/2014/main" id="{AD729571-1F6D-40EF-A964-C0C5B47CCDD5}"/>
              </a:ext>
            </a:extLst>
          </p:cNvPr>
          <p:cNvSpPr>
            <a:spLocks xmlns:a="http://schemas.openxmlformats.org/drawingml/2006/main" noGrp="1"/>
          </p:cNvSpPr>
          <p:nvPr/>
        </p:nvSpPr>
        <p:spPr>
          <a:xfrm xmlns:a="http://schemas.openxmlformats.org/drawingml/2006/main">
            <a:off x="11277600" y="627697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lstStyle xmlns:a="http://schemas.openxmlformats.org/drawingml/2006/main"/>
          <a:p xmlns:a="http://schemas.openxmlformats.org/drawingml/2006/main">
            <a:pPr algn="r">
              <a:defRPr sz="975" b="0">
                <a:solidFill>
                  <a:srgbClr val="111111"/>
                </a:solidFill>
                <a:latin typeface="Arial"/>
                <a:ea typeface="Arial"/>
                <a:cs typeface="Arial"/>
              </a:defRPr>
            </a:pPr>
            <a:r>
              <a:rPr sz="975" b="0">
                <a:solidFill>
                  <a:srgbClr val="111111"/>
                </a:solidFill>
                <a:latin typeface="Arial"/>
                <a:ea typeface="Arial"/>
                <a:cs typeface="Arial"/>
              </a:rPr>
              <a:t>04</a:t>
            </a:r>
          </a:p>
        </p:txBody>
      </p:sp>
    </p:spTree>
    <p:extLst>
      <p:ext uri="{BB962C8B-B14F-4D97-AF65-F5344CB8AC3E}">
        <p14:creationId xmlns:p14="http://schemas.microsoft.com/office/powerpoint/2010/main" val="7893214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6125ACF6-34DF-4E33-A743-71174484A722}"/>
              </a:ext>
            </a:extLst>
          </p:cNvPr>
          <p:cNvSpPr>
            <a:spLocks xmlns:a="http://schemas.openxmlformats.org/drawingml/2006/main" noGrp="1"/>
          </p:cNvSpPr>
          <p:nvPr/>
        </p:nvSpPr>
        <p:spPr>
          <a:xfrm xmlns:a="http://schemas.openxmlformats.org/drawingml/2006/main">
            <a:off x="390525" y="342900"/>
            <a:ext cx="114014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Reliability comes from separating facts, tools, reasoning, and verification.</a:t>
            </a:r>
          </a:p>
        </p:txBody>
      </p:sp>
      <p:sp>
        <p:nvSpPr>
          <p:cNvPr id="2" name="arch-card-0">
            <a:extLst xmlns:a="http://schemas.openxmlformats.org/drawingml/2006/main">
              <a:ext uri="{FF2B5EF4-FFF2-40B4-BE49-F238E27FC236}">
                <a16:creationId xmlns:a16="http://schemas.microsoft.com/office/drawing/2014/main" id="{620F0CD6-D505-4419-B32E-E386D407C4F4}"/>
              </a:ext>
            </a:extLst>
          </p:cNvPr>
          <p:cNvSpPr>
            <a:spLocks xmlns:a="http://schemas.openxmlformats.org/drawingml/2006/main" noGrp="1"/>
          </p:cNvSpPr>
          <p:nvPr/>
        </p:nvSpPr>
        <p:spPr>
          <a:xfrm xmlns:a="http://schemas.openxmlformats.org/drawingml/2006/main">
            <a:off x="390525" y="1400175"/>
            <a:ext cx="3571875" cy="3790950"/>
          </a:xfrm>
          <a:prstGeom xmlns:a="http://schemas.openxmlformats.org/drawingml/2006/main" prst="roundRect">
            <a:avLst>
              <a:gd name="adj" fmla="val 2133"/>
            </a:avLst>
          </a:prstGeom>
          <a:solidFill xmlns:a="http://schemas.openxmlformats.org/drawingml/2006/main">
            <a:srgbClr val="F2F2F2"/>
          </a:solidFill>
          <a:ln xmlns:a="http://schemas.openxmlformats.org/drawingml/2006/main" w="9525">
            <a:solidFill>
              <a:srgbClr val="B8BCC4"/>
            </a:solidFill>
            <a:prstDash val="solid"/>
          </a:ln>
        </p:spPr>
      </p:sp>
      <p:sp>
        <p:nvSpPr>
          <p:cNvPr id="3" name="arch-title-0">
            <a:extLst xmlns:a="http://schemas.openxmlformats.org/drawingml/2006/main">
              <a:ext uri="{FF2B5EF4-FFF2-40B4-BE49-F238E27FC236}">
                <a16:creationId xmlns:a16="http://schemas.microsoft.com/office/drawing/2014/main" id="{C3B200B0-5391-4482-B959-5F36B63CB66F}"/>
              </a:ext>
            </a:extLst>
          </p:cNvPr>
          <p:cNvSpPr>
            <a:spLocks xmlns:a="http://schemas.openxmlformats.org/drawingml/2006/main" noGrp="1"/>
          </p:cNvSpPr>
          <p:nvPr/>
        </p:nvSpPr>
        <p:spPr>
          <a:xfrm xmlns:a="http://schemas.openxmlformats.org/drawingml/2006/main">
            <a:off x="695325" y="1790700"/>
            <a:ext cx="29622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Typed extraction</a:t>
            </a:r>
          </a:p>
        </p:txBody>
      </p:sp>
      <p:sp>
        <p:nvSpPr>
          <p:cNvPr id="4" name="arch-body-0">
            <a:extLst xmlns:a="http://schemas.openxmlformats.org/drawingml/2006/main">
              <a:ext uri="{FF2B5EF4-FFF2-40B4-BE49-F238E27FC236}">
                <a16:creationId xmlns:a16="http://schemas.microsoft.com/office/drawing/2014/main" id="{40C33774-53C7-4B90-86BB-7CAAA4317BEB}"/>
              </a:ext>
            </a:extLst>
          </p:cNvPr>
          <p:cNvSpPr>
            <a:spLocks xmlns:a="http://schemas.openxmlformats.org/drawingml/2006/main" noGrp="1"/>
          </p:cNvSpPr>
          <p:nvPr/>
        </p:nvSpPr>
        <p:spPr>
          <a:xfrm xmlns:a="http://schemas.openxmlformats.org/drawingml/2006/main">
            <a:off x="695325" y="2762250"/>
            <a:ext cx="29622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00" b="0">
                <a:solidFill>
                  <a:srgbClr val="565D66"/>
                </a:solidFill>
                <a:latin typeface="Arial"/>
                <a:ea typeface="Arial"/>
                <a:cs typeface="Arial"/>
              </a:defRPr>
            </a:pPr>
            <a:r>
              <a:rPr sz="1500" b="0">
                <a:solidFill>
                  <a:srgbClr val="565D66"/>
                </a:solidFill>
                <a:latin typeface="Arial"/>
                <a:ea typeface="Arial"/>
                <a:cs typeface="Arial"/>
              </a:rPr>
              <a:t>A provider turns documents or guided answers into a reviewable profile with evidence spans, confidence, and warnings.</a:t>
            </a:r>
          </a:p>
        </p:txBody>
      </p:sp>
      <p:sp>
        <p:nvSpPr>
          <p:cNvPr id="5" name="arch-card-1">
            <a:extLst xmlns:a="http://schemas.openxmlformats.org/drawingml/2006/main">
              <a:ext uri="{FF2B5EF4-FFF2-40B4-BE49-F238E27FC236}">
                <a16:creationId xmlns:a16="http://schemas.microsoft.com/office/drawing/2014/main" id="{12740772-B569-4B20-B27F-E53E4A894A65}"/>
              </a:ext>
            </a:extLst>
          </p:cNvPr>
          <p:cNvSpPr>
            <a:spLocks xmlns:a="http://schemas.openxmlformats.org/drawingml/2006/main" noGrp="1"/>
          </p:cNvSpPr>
          <p:nvPr/>
        </p:nvSpPr>
        <p:spPr>
          <a:xfrm xmlns:a="http://schemas.openxmlformats.org/drawingml/2006/main">
            <a:off x="4305300" y="1400175"/>
            <a:ext cx="3571875" cy="3790950"/>
          </a:xfrm>
          <a:prstGeom xmlns:a="http://schemas.openxmlformats.org/drawingml/2006/main" prst="roundRect">
            <a:avLst>
              <a:gd name="adj" fmla="val 2133"/>
            </a:avLst>
          </a:prstGeom>
          <a:solidFill xmlns:a="http://schemas.openxmlformats.org/drawingml/2006/main">
            <a:srgbClr val="E9F7F4"/>
          </a:solidFill>
          <a:ln xmlns:a="http://schemas.openxmlformats.org/drawingml/2006/main" w="9525">
            <a:solidFill>
              <a:srgbClr val="B8BCC4"/>
            </a:solidFill>
            <a:prstDash val="solid"/>
          </a:ln>
        </p:spPr>
      </p:sp>
      <p:sp>
        <p:nvSpPr>
          <p:cNvPr id="6" name="arch-title-1">
            <a:extLst xmlns:a="http://schemas.openxmlformats.org/drawingml/2006/main">
              <a:ext uri="{FF2B5EF4-FFF2-40B4-BE49-F238E27FC236}">
                <a16:creationId xmlns:a16="http://schemas.microsoft.com/office/drawing/2014/main" id="{16BD6952-4B2C-45BC-9EED-493F5FEA94CC}"/>
              </a:ext>
            </a:extLst>
          </p:cNvPr>
          <p:cNvSpPr>
            <a:spLocks xmlns:a="http://schemas.openxmlformats.org/drawingml/2006/main" noGrp="1"/>
          </p:cNvSpPr>
          <p:nvPr/>
        </p:nvSpPr>
        <p:spPr>
          <a:xfrm xmlns:a="http://schemas.openxmlformats.org/drawingml/2006/main">
            <a:off x="4610100" y="1790700"/>
            <a:ext cx="29622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100" b="1">
                <a:solidFill>
                  <a:srgbClr val="0F766E"/>
                </a:solidFill>
                <a:latin typeface="Arial"/>
                <a:ea typeface="Arial"/>
                <a:cs typeface="Arial"/>
              </a:defRPr>
            </a:pPr>
            <a:r>
              <a:rPr sz="2100" b="1">
                <a:solidFill>
                  <a:srgbClr val="0F766E"/>
                </a:solidFill>
                <a:latin typeface="Arial"/>
                <a:ea typeface="Arial"/>
                <a:cs typeface="Arial"/>
              </a:rPr>
              <a:t>Deterministic tools</a:t>
            </a:r>
          </a:p>
        </p:txBody>
      </p:sp>
      <p:sp>
        <p:nvSpPr>
          <p:cNvPr id="7" name="arch-body-1">
            <a:extLst xmlns:a="http://schemas.openxmlformats.org/drawingml/2006/main">
              <a:ext uri="{FF2B5EF4-FFF2-40B4-BE49-F238E27FC236}">
                <a16:creationId xmlns:a16="http://schemas.microsoft.com/office/drawing/2014/main" id="{CD0D4279-78A4-4E28-A0EE-F15E7C1AA2BF}"/>
              </a:ext>
            </a:extLst>
          </p:cNvPr>
          <p:cNvSpPr>
            <a:spLocks xmlns:a="http://schemas.openxmlformats.org/drawingml/2006/main" noGrp="1"/>
          </p:cNvSpPr>
          <p:nvPr/>
        </p:nvSpPr>
        <p:spPr>
          <a:xfrm xmlns:a="http://schemas.openxmlformats.org/drawingml/2006/main">
            <a:off x="4610100" y="2762250"/>
            <a:ext cx="29622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00" b="0">
                <a:solidFill>
                  <a:srgbClr val="565D66"/>
                </a:solidFill>
                <a:latin typeface="Arial"/>
                <a:ea typeface="Arial"/>
                <a:cs typeface="Arial"/>
              </a:defRPr>
            </a:pPr>
            <a:r>
              <a:rPr sz="1500" b="0">
                <a:solidFill>
                  <a:srgbClr val="565D66"/>
                </a:solidFill>
                <a:latin typeface="Arial"/>
                <a:ea typeface="Arial"/>
                <a:cs typeface="Arial"/>
              </a:rPr>
              <a:t>Five local tools calculate role evidence, skill gaps, project ideas, next actions, and supporting evidence before synthesis.</a:t>
            </a:r>
          </a:p>
        </p:txBody>
      </p:sp>
      <p:sp>
        <p:nvSpPr>
          <p:cNvPr id="8" name="arch-card-2">
            <a:extLst xmlns:a="http://schemas.openxmlformats.org/drawingml/2006/main">
              <a:ext uri="{FF2B5EF4-FFF2-40B4-BE49-F238E27FC236}">
                <a16:creationId xmlns:a16="http://schemas.microsoft.com/office/drawing/2014/main" id="{6EE80BA0-986D-49D1-A609-D3D7F894F5A9}"/>
              </a:ext>
            </a:extLst>
          </p:cNvPr>
          <p:cNvSpPr>
            <a:spLocks xmlns:a="http://schemas.openxmlformats.org/drawingml/2006/main" noGrp="1"/>
          </p:cNvSpPr>
          <p:nvPr/>
        </p:nvSpPr>
        <p:spPr>
          <a:xfrm xmlns:a="http://schemas.openxmlformats.org/drawingml/2006/main">
            <a:off x="8239125" y="1400175"/>
            <a:ext cx="3571875" cy="3790950"/>
          </a:xfrm>
          <a:prstGeom xmlns:a="http://schemas.openxmlformats.org/drawingml/2006/main" prst="roundRect">
            <a:avLst>
              <a:gd name="adj" fmla="val 2133"/>
            </a:avLst>
          </a:prstGeom>
          <a:solidFill xmlns:a="http://schemas.openxmlformats.org/drawingml/2006/main">
            <a:srgbClr val="F2F2F2"/>
          </a:solidFill>
          <a:ln xmlns:a="http://schemas.openxmlformats.org/drawingml/2006/main" w="9525">
            <a:solidFill>
              <a:srgbClr val="B8BCC4"/>
            </a:solidFill>
            <a:prstDash val="solid"/>
          </a:ln>
        </p:spPr>
      </p:sp>
      <p:sp>
        <p:nvSpPr>
          <p:cNvPr id="9" name="arch-title-2">
            <a:extLst xmlns:a="http://schemas.openxmlformats.org/drawingml/2006/main">
              <a:ext uri="{FF2B5EF4-FFF2-40B4-BE49-F238E27FC236}">
                <a16:creationId xmlns:a16="http://schemas.microsoft.com/office/drawing/2014/main" id="{955375CF-AB47-42F5-9DB5-75A4A0E4876A}"/>
              </a:ext>
            </a:extLst>
          </p:cNvPr>
          <p:cNvSpPr>
            <a:spLocks xmlns:a="http://schemas.openxmlformats.org/drawingml/2006/main" noGrp="1"/>
          </p:cNvSpPr>
          <p:nvPr/>
        </p:nvSpPr>
        <p:spPr>
          <a:xfrm xmlns:a="http://schemas.openxmlformats.org/drawingml/2006/main">
            <a:off x="8543925" y="1790700"/>
            <a:ext cx="29622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Reasoner + verifier</a:t>
            </a:r>
          </a:p>
        </p:txBody>
      </p:sp>
      <p:sp>
        <p:nvSpPr>
          <p:cNvPr id="10" name="arch-body-2">
            <a:extLst xmlns:a="http://schemas.openxmlformats.org/drawingml/2006/main">
              <a:ext uri="{FF2B5EF4-FFF2-40B4-BE49-F238E27FC236}">
                <a16:creationId xmlns:a16="http://schemas.microsoft.com/office/drawing/2014/main" id="{B48754DE-CDFD-4D9A-B561-2AD38A9E8D28}"/>
              </a:ext>
            </a:extLst>
          </p:cNvPr>
          <p:cNvSpPr>
            <a:spLocks xmlns:a="http://schemas.openxmlformats.org/drawingml/2006/main" noGrp="1"/>
          </p:cNvSpPr>
          <p:nvPr/>
        </p:nvSpPr>
        <p:spPr>
          <a:xfrm xmlns:a="http://schemas.openxmlformats.org/drawingml/2006/main">
            <a:off x="8543925" y="2762250"/>
            <a:ext cx="29622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00" b="0">
                <a:solidFill>
                  <a:srgbClr val="565D66"/>
                </a:solidFill>
                <a:latin typeface="Arial"/>
                <a:ea typeface="Arial"/>
                <a:cs typeface="Arial"/>
              </a:defRPr>
            </a:pPr>
            <a:r>
              <a:rPr sz="1500" b="0">
                <a:solidFill>
                  <a:srgbClr val="565D66"/>
                </a:solidFill>
                <a:latin typeface="Arial"/>
                <a:ea typeface="Arial"/>
                <a:cs typeface="Arial"/>
              </a:rPr>
              <a:t>The LLM produces typed JSON; verification preserves caveats, warnings, latency, fallback events, and routing trace.</a:t>
            </a:r>
          </a:p>
        </p:txBody>
      </p:sp>
      <p:sp>
        <p:nvSpPr>
          <p:cNvPr id="11" name="provider-band">
            <a:extLst xmlns:a="http://schemas.openxmlformats.org/drawingml/2006/main">
              <a:ext uri="{FF2B5EF4-FFF2-40B4-BE49-F238E27FC236}">
                <a16:creationId xmlns:a16="http://schemas.microsoft.com/office/drawing/2014/main" id="{74838D8C-6097-42EE-A26F-5DD8CF224CE5}"/>
              </a:ext>
            </a:extLst>
          </p:cNvPr>
          <p:cNvSpPr>
            <a:spLocks xmlns:a="http://schemas.openxmlformats.org/drawingml/2006/main" noGrp="1"/>
          </p:cNvSpPr>
          <p:nvPr/>
        </p:nvSpPr>
        <p:spPr>
          <a:xfrm xmlns:a="http://schemas.openxmlformats.org/drawingml/2006/main">
            <a:off x="390525" y="55626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650" b="1">
                <a:solidFill>
                  <a:srgbClr val="0F766E"/>
                </a:solidFill>
                <a:latin typeface="Arial"/>
                <a:ea typeface="Arial"/>
                <a:cs typeface="Arial"/>
              </a:defRPr>
            </a:pPr>
            <a:r>
              <a:rPr sz="1650" b="1">
                <a:solidFill>
                  <a:srgbClr val="0F766E"/>
                </a:solidFill>
                <a:latin typeface="Arial"/>
                <a:ea typeface="Arial"/>
                <a:cs typeface="Arial"/>
              </a:rPr>
              <a:t>Provider-neutral by design: Gemini  /  OpenAI  /  Qwen  /  local HTTP  /  offline demo</a:t>
            </a:r>
          </a:p>
        </p:txBody>
      </p:sp>
      <p:sp>
        <p:nvSpPr>
          <p:cNvPr id="12" name="footer-5">
            <a:extLst xmlns:a="http://schemas.openxmlformats.org/drawingml/2006/main">
              <a:ext uri="{FF2B5EF4-FFF2-40B4-BE49-F238E27FC236}">
                <a16:creationId xmlns:a16="http://schemas.microsoft.com/office/drawing/2014/main" id="{E906F5F0-1B79-45A7-915A-F743E13E6224}"/>
              </a:ext>
            </a:extLst>
          </p:cNvPr>
          <p:cNvSpPr>
            <a:spLocks xmlns:a="http://schemas.openxmlformats.org/drawingml/2006/main" noGrp="1"/>
          </p:cNvSpPr>
          <p:nvPr/>
        </p:nvSpPr>
        <p:spPr>
          <a:xfrm xmlns:a="http://schemas.openxmlformats.org/drawingml/2006/main">
            <a:off x="11277600" y="627697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lstStyle xmlns:a="http://schemas.openxmlformats.org/drawingml/2006/main"/>
          <a:p xmlns:a="http://schemas.openxmlformats.org/drawingml/2006/main">
            <a:pPr algn="r">
              <a:defRPr sz="975" b="0">
                <a:solidFill>
                  <a:srgbClr val="111111"/>
                </a:solidFill>
                <a:latin typeface="Arial"/>
                <a:ea typeface="Arial"/>
                <a:cs typeface="Arial"/>
              </a:defRPr>
            </a:pPr>
            <a:r>
              <a:rPr sz="975" b="0">
                <a:solidFill>
                  <a:srgbClr val="111111"/>
                </a:solidFill>
                <a:latin typeface="Arial"/>
                <a:ea typeface="Arial"/>
                <a:cs typeface="Arial"/>
              </a:rPr>
              <a:t>05</a:t>
            </a:r>
          </a:p>
        </p:txBody>
      </p:sp>
    </p:spTree>
    <p:extLst>
      <p:ext uri="{BB962C8B-B14F-4D97-AF65-F5344CB8AC3E}">
        <p14:creationId xmlns:p14="http://schemas.microsoft.com/office/powerpoint/2010/main" val="4932605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81A6B23A-3011-4FF1-A212-9C5BB228A103}"/>
              </a:ext>
            </a:extLst>
          </p:cNvPr>
          <p:cNvSpPr>
            <a:spLocks xmlns:a="http://schemas.openxmlformats.org/drawingml/2006/main" noGrp="1"/>
          </p:cNvSpPr>
          <p:nvPr/>
        </p:nvSpPr>
        <p:spPr>
          <a:xfrm xmlns:a="http://schemas.openxmlformats.org/drawingml/2006/main">
            <a:off x="390525" y="342900"/>
            <a:ext cx="114014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3225" b="1">
                <a:solidFill>
                  <a:srgbClr val="111111"/>
                </a:solidFill>
                <a:latin typeface="Arial"/>
                <a:ea typeface="Arial"/>
                <a:cs typeface="Arial"/>
              </a:defRPr>
            </a:pPr>
            <a:r>
              <a:rPr sz="3225" b="1">
                <a:solidFill>
                  <a:srgbClr val="111111"/>
                </a:solidFill>
                <a:latin typeface="Arial"/>
                <a:ea typeface="Arial"/>
                <a:cs typeface="Arial"/>
              </a:rPr>
              <a:t>Two kinds of AI made the project stronger.</a:t>
            </a:r>
          </a:p>
        </p:txBody>
      </p:sp>
      <p:sp>
        <p:nvSpPr>
          <p:cNvPr id="2" name="lead">
            <a:extLst xmlns:a="http://schemas.openxmlformats.org/drawingml/2006/main">
              <a:ext uri="{FF2B5EF4-FFF2-40B4-BE49-F238E27FC236}">
                <a16:creationId xmlns:a16="http://schemas.microsoft.com/office/drawing/2014/main" id="{CA9C395C-C5E5-4BE7-B279-6868BF02DAB8}"/>
              </a:ext>
            </a:extLst>
          </p:cNvPr>
          <p:cNvSpPr>
            <a:spLocks xmlns:a="http://schemas.openxmlformats.org/drawingml/2006/main" noGrp="1"/>
          </p:cNvSpPr>
          <p:nvPr/>
        </p:nvSpPr>
        <p:spPr>
          <a:xfrm xmlns:a="http://schemas.openxmlformats.org/drawingml/2006/main">
            <a:off x="400050" y="1200150"/>
            <a:ext cx="11049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725" b="0">
                <a:solidFill>
                  <a:srgbClr val="565D66"/>
                </a:solidFill>
                <a:latin typeface="Arial"/>
                <a:ea typeface="Arial"/>
                <a:cs typeface="Arial"/>
              </a:defRPr>
            </a:pPr>
            <a:r>
              <a:rPr sz="1725" b="0">
                <a:solidFill>
                  <a:srgbClr val="565D66"/>
                </a:solidFill>
                <a:latin typeface="Arial"/>
                <a:ea typeface="Arial"/>
                <a:cs typeface="Arial"/>
              </a:rPr>
              <a:t>Development agents helped plan, implement, review, and test the system. Runtime models power the user experience behind stable protocols and schemas.</a:t>
            </a:r>
          </a:p>
        </p:txBody>
      </p:sp>
      <p:sp>
        <p:nvSpPr>
          <p:cNvPr id="3" name="dev-panel">
            <a:extLst xmlns:a="http://schemas.openxmlformats.org/drawingml/2006/main">
              <a:ext uri="{FF2B5EF4-FFF2-40B4-BE49-F238E27FC236}">
                <a16:creationId xmlns:a16="http://schemas.microsoft.com/office/drawing/2014/main" id="{BF041A76-8D71-4289-9244-73F711FDA5A1}"/>
              </a:ext>
            </a:extLst>
          </p:cNvPr>
          <p:cNvSpPr>
            <a:spLocks xmlns:a="http://schemas.openxmlformats.org/drawingml/2006/main" noGrp="1"/>
          </p:cNvSpPr>
          <p:nvPr/>
        </p:nvSpPr>
        <p:spPr>
          <a:xfrm xmlns:a="http://schemas.openxmlformats.org/drawingml/2006/main">
            <a:off x="400050" y="3105150"/>
            <a:ext cx="5534025" cy="1428750"/>
          </a:xfrm>
          <a:prstGeom xmlns:a="http://schemas.openxmlformats.org/drawingml/2006/main" prst="roundRect">
            <a:avLst>
              <a:gd name="adj" fmla="val 5333"/>
            </a:avLst>
          </a:prstGeom>
          <a:solidFill xmlns:a="http://schemas.openxmlformats.org/drawingml/2006/main">
            <a:srgbClr val="F2F2F2"/>
          </a:solidFill>
          <a:ln xmlns:a="http://schemas.openxmlformats.org/drawingml/2006/main" w="9525">
            <a:solidFill>
              <a:srgbClr val="B8BCC4"/>
            </a:solidFill>
            <a:prstDash val="solid"/>
          </a:ln>
        </p:spPr>
      </p:sp>
      <p:sp>
        <p:nvSpPr>
          <p:cNvPr id="4" name="dev-title">
            <a:extLst xmlns:a="http://schemas.openxmlformats.org/drawingml/2006/main">
              <a:ext uri="{FF2B5EF4-FFF2-40B4-BE49-F238E27FC236}">
                <a16:creationId xmlns:a16="http://schemas.microsoft.com/office/drawing/2014/main" id="{ED376A3E-4581-4B7B-9BBB-4A11DEA916B4}"/>
              </a:ext>
            </a:extLst>
          </p:cNvPr>
          <p:cNvSpPr>
            <a:spLocks xmlns:a="http://schemas.openxmlformats.org/drawingml/2006/main" noGrp="1"/>
          </p:cNvSpPr>
          <p:nvPr/>
        </p:nvSpPr>
        <p:spPr>
          <a:xfrm xmlns:a="http://schemas.openxmlformats.org/drawingml/2006/main">
            <a:off x="695325" y="33718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175" b="1">
                <a:solidFill>
                  <a:srgbClr val="111111"/>
                </a:solidFill>
                <a:latin typeface="Arial"/>
                <a:ea typeface="Arial"/>
                <a:cs typeface="Arial"/>
              </a:defRPr>
            </a:pPr>
            <a:r>
              <a:rPr sz="2175" b="1">
                <a:solidFill>
                  <a:srgbClr val="111111"/>
                </a:solidFill>
                <a:latin typeface="Arial"/>
                <a:ea typeface="Arial"/>
                <a:cs typeface="Arial"/>
              </a:rPr>
              <a:t>Development workflow</a:t>
            </a:r>
          </a:p>
        </p:txBody>
      </p:sp>
      <p:sp>
        <p:nvSpPr>
          <p:cNvPr id="5" name="dev-body">
            <a:extLst xmlns:a="http://schemas.openxmlformats.org/drawingml/2006/main">
              <a:ext uri="{FF2B5EF4-FFF2-40B4-BE49-F238E27FC236}">
                <a16:creationId xmlns:a16="http://schemas.microsoft.com/office/drawing/2014/main" id="{BE85D9CB-46E8-4ACF-91B1-4B3EFCD4B8FD}"/>
              </a:ext>
            </a:extLst>
          </p:cNvPr>
          <p:cNvSpPr>
            <a:spLocks xmlns:a="http://schemas.openxmlformats.org/drawingml/2006/main" noGrp="1"/>
          </p:cNvSpPr>
          <p:nvPr/>
        </p:nvSpPr>
        <p:spPr>
          <a:xfrm xmlns:a="http://schemas.openxmlformats.org/drawingml/2006/main">
            <a:off x="695325" y="4819650"/>
            <a:ext cx="4953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Claude Code: architecture + review</a:t>
            </a:r>
          </a:p>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OpenAI Codex: implementation + tests</a:t>
            </a:r>
          </a:p>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Human: product decisions + acceptance</a:t>
            </a:r>
          </a:p>
        </p:txBody>
      </p:sp>
      <p:sp>
        <p:nvSpPr>
          <p:cNvPr id="6" name="runtime-panel">
            <a:extLst xmlns:a="http://schemas.openxmlformats.org/drawingml/2006/main">
              <a:ext uri="{FF2B5EF4-FFF2-40B4-BE49-F238E27FC236}">
                <a16:creationId xmlns:a16="http://schemas.microsoft.com/office/drawing/2014/main" id="{B9C366EA-E71F-436F-920A-8334C609F6FB}"/>
              </a:ext>
            </a:extLst>
          </p:cNvPr>
          <p:cNvSpPr>
            <a:spLocks xmlns:a="http://schemas.openxmlformats.org/drawingml/2006/main" noGrp="1"/>
          </p:cNvSpPr>
          <p:nvPr/>
        </p:nvSpPr>
        <p:spPr>
          <a:xfrm xmlns:a="http://schemas.openxmlformats.org/drawingml/2006/main">
            <a:off x="6257925" y="3105150"/>
            <a:ext cx="5534025" cy="1428750"/>
          </a:xfrm>
          <a:prstGeom xmlns:a="http://schemas.openxmlformats.org/drawingml/2006/main" prst="roundRect">
            <a:avLst>
              <a:gd name="adj" fmla="val 5333"/>
            </a:avLst>
          </a:prstGeom>
          <a:solidFill xmlns:a="http://schemas.openxmlformats.org/drawingml/2006/main">
            <a:srgbClr val="EAF5FB"/>
          </a:solidFill>
          <a:ln xmlns:a="http://schemas.openxmlformats.org/drawingml/2006/main" w="9525">
            <a:solidFill>
              <a:srgbClr val="C7DFF2"/>
            </a:solidFill>
            <a:prstDash val="solid"/>
          </a:ln>
        </p:spPr>
      </p:sp>
      <p:sp>
        <p:nvSpPr>
          <p:cNvPr id="7" name="runtime-title">
            <a:extLst xmlns:a="http://schemas.openxmlformats.org/drawingml/2006/main">
              <a:ext uri="{FF2B5EF4-FFF2-40B4-BE49-F238E27FC236}">
                <a16:creationId xmlns:a16="http://schemas.microsoft.com/office/drawing/2014/main" id="{67318C6E-D538-4E77-8763-61BF7F26A4F6}"/>
              </a:ext>
            </a:extLst>
          </p:cNvPr>
          <p:cNvSpPr>
            <a:spLocks xmlns:a="http://schemas.openxmlformats.org/drawingml/2006/main" noGrp="1"/>
          </p:cNvSpPr>
          <p:nvPr/>
        </p:nvSpPr>
        <p:spPr>
          <a:xfrm xmlns:a="http://schemas.openxmlformats.org/drawingml/2006/main">
            <a:off x="6553200" y="33718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175" b="1">
                <a:solidFill>
                  <a:srgbClr val="3D8DFF"/>
                </a:solidFill>
                <a:latin typeface="Arial"/>
                <a:ea typeface="Arial"/>
                <a:cs typeface="Arial"/>
              </a:defRPr>
            </a:pPr>
            <a:r>
              <a:rPr sz="2175" b="1">
                <a:solidFill>
                  <a:srgbClr val="3D8DFF"/>
                </a:solidFill>
                <a:latin typeface="Arial"/>
                <a:ea typeface="Arial"/>
                <a:cs typeface="Arial"/>
              </a:rPr>
              <a:t>Runtime intelligence</a:t>
            </a:r>
          </a:p>
        </p:txBody>
      </p:sp>
      <p:sp>
        <p:nvSpPr>
          <p:cNvPr id="8" name="runtime-body">
            <a:extLst xmlns:a="http://schemas.openxmlformats.org/drawingml/2006/main">
              <a:ext uri="{FF2B5EF4-FFF2-40B4-BE49-F238E27FC236}">
                <a16:creationId xmlns:a16="http://schemas.microsoft.com/office/drawing/2014/main" id="{CE4E762F-B38B-4579-8D38-C0896894952D}"/>
              </a:ext>
            </a:extLst>
          </p:cNvPr>
          <p:cNvSpPr>
            <a:spLocks xmlns:a="http://schemas.openxmlformats.org/drawingml/2006/main" noGrp="1"/>
          </p:cNvSpPr>
          <p:nvPr/>
        </p:nvSpPr>
        <p:spPr>
          <a:xfrm xmlns:a="http://schemas.openxmlformats.org/drawingml/2006/main">
            <a:off x="6553200" y="4819650"/>
            <a:ext cx="4953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Gemini / OpenAI / Qwen behind protocols</a:t>
            </a:r>
          </a:p>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Schema-bound JSON</a:t>
            </a:r>
          </a:p>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Evidence, warnings, trace + fallback</a:t>
            </a:r>
          </a:p>
        </p:txBody>
      </p:sp>
      <p:sp>
        <p:nvSpPr>
          <p:cNvPr id="9" name="footer-6">
            <a:extLst xmlns:a="http://schemas.openxmlformats.org/drawingml/2006/main">
              <a:ext uri="{FF2B5EF4-FFF2-40B4-BE49-F238E27FC236}">
                <a16:creationId xmlns:a16="http://schemas.microsoft.com/office/drawing/2014/main" id="{DF5384A7-D2F6-4190-9631-C62082B9790C}"/>
              </a:ext>
            </a:extLst>
          </p:cNvPr>
          <p:cNvSpPr>
            <a:spLocks xmlns:a="http://schemas.openxmlformats.org/drawingml/2006/main" noGrp="1"/>
          </p:cNvSpPr>
          <p:nvPr/>
        </p:nvSpPr>
        <p:spPr>
          <a:xfrm xmlns:a="http://schemas.openxmlformats.org/drawingml/2006/main">
            <a:off x="11277600" y="627697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lstStyle xmlns:a="http://schemas.openxmlformats.org/drawingml/2006/main"/>
          <a:p xmlns:a="http://schemas.openxmlformats.org/drawingml/2006/main">
            <a:pPr algn="r">
              <a:defRPr sz="975" b="0">
                <a:solidFill>
                  <a:srgbClr val="111111"/>
                </a:solidFill>
                <a:latin typeface="Arial"/>
                <a:ea typeface="Arial"/>
                <a:cs typeface="Arial"/>
              </a:defRPr>
            </a:pPr>
            <a:r>
              <a:rPr sz="975" b="0">
                <a:solidFill>
                  <a:srgbClr val="111111"/>
                </a:solidFill>
                <a:latin typeface="Arial"/>
                <a:ea typeface="Arial"/>
                <a:cs typeface="Arial"/>
              </a:rPr>
              <a:t>06</a:t>
            </a:r>
          </a:p>
        </p:txBody>
      </p:sp>
    </p:spTree>
    <p:extLst>
      <p:ext uri="{BB962C8B-B14F-4D97-AF65-F5344CB8AC3E}">
        <p14:creationId xmlns:p14="http://schemas.microsoft.com/office/powerpoint/2010/main" val="11391636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2026-08-27T22:24:34.1810000Z</dcterms:created>
  <dcterms:modified xsi:type="dcterms:W3CDTF">2026-08-27T22:24:34.1820000Z</dcterms:modified>
</coreProperties>
</file>